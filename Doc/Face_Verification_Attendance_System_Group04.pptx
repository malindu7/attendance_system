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2286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&amp; Progress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11887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7672" y="3291840"/>
            <a:ext cx="11887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0984" y="3291840"/>
            <a:ext cx="11887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3291840"/>
            <a:ext cx="11887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7608" y="3291840"/>
            <a:ext cx="11887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291840"/>
            <a:ext cx="11887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3931920"/>
            <a:ext cx="914400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CS31092 — Digital Image Processing  |  Group 04  |  KDU Faculty of Computing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D/BCE/24/0007  DMMH Dissanayake  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D/BCS/24/0010  HDT Gajanayaka  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D/DBA/23/0012  OM Kavishan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43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solution, and technology stack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13432"/>
            <a:ext cx="54864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404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verification workflows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7530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75304"/>
            <a:ext cx="54864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6667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" y="3986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4288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steps in detail — the core focus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515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51560"/>
            <a:ext cx="54864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143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65192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 and Flask routes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1343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13432"/>
            <a:ext cx="54864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404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65192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65192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 and attendance logging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57530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75304"/>
            <a:ext cx="54864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6667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65192" y="3986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&amp; Planned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65192" y="4288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summary and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 and how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3749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087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sign-in is slow and disrupts lectures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57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sheets are easy to manipulate or forge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060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data entry — wrong names, missing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154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records — lecturers can't check instantly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033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entries possible with paper-based systems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43891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051560"/>
            <a:ext cx="54864" cy="3749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55448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face detection via live webcam feed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10312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057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CNN generates unique 128-D face fingerprint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65176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606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match — no manual input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154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MongoDB logging with subject &amp; timestamp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4904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703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deduplication prevents duplicate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technology chosen for a specific purpose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8229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24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Vast ML/CV library ecosystem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44568" y="10515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051560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24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3990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&amp; routing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600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Lightweight, easy Python 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9842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84248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57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23317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capture, resize, draw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2532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Industry standard for real-time CV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44568" y="19842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44568" y="1984248"/>
            <a:ext cx="54864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057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23317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128-D encoding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532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Wraps dlib's ResNet-34 — proven accuracy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1693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16936"/>
            <a:ext cx="54864" cy="8229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9900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3264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C++ ML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" y="3465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Efficient landmark detection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44568" y="291693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44568" y="2916936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900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3264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math &amp; distance calc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465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Vectorised ops — extremely fast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84962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49624"/>
            <a:ext cx="54864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922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8912" y="41970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attendance database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" y="43982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Flexible schema for timestamped logs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44568" y="384962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44568" y="3849624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922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09160" y="41970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Python–MongoDB connector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43982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Official MongoDB Python driver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Registration and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solidFill>
            <a:srgbClr val="1A56A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27048"/>
            <a:ext cx="146304" cy="14630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19656"/>
            <a:ext cx="146304" cy="14630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739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preview streams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12264"/>
            <a:ext cx="146304" cy="14630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665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capture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04872"/>
            <a:ext cx="146304" cy="14630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591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saved → images/ folder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146304" cy="14630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51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load_known_faces() reloads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874520"/>
            <a:ext cx="45720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1828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51560"/>
            <a:ext cx="4023360" cy="34747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152704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stands at camera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81965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7739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preprocessing pipeline runs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211226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0665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detects face → ResNet encodes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2404872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3591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match &lt; 0.50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4920" y="269748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651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logs attendance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999232"/>
            <a:ext cx="859536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0175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PREPROCESSING PIPELINE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089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BGR→RGB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3901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38531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8531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25%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1343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45973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973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8785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53415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3415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Blur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46227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0857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0857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Detect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3669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68299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299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Encode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1111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75741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5741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Match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85532" y="34015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›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831836" y="3310128"/>
            <a:ext cx="1001268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1836" y="3310128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Log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74320" y="40690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FLASK ROUTES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43400"/>
          <a:ext cx="8595360" cy="64008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6309360"/>
              </a:tblGrid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/verify_feed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MJPEG live camera stream for face verification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/capture_face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Captures photo, saves to images/, reloads encodings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/dashboard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Attendance log view with subject filtering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Image Preprocessing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technically important phase — 11 steps that transform raw camera frames into clean CNN 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713232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6696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2416" y="1051560"/>
            <a:ext cx="71323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BGR→RGB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64792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10512" y="1051560"/>
            <a:ext cx="713232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10512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78608" y="1051560"/>
            <a:ext cx="71323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78608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00984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46704" y="1051560"/>
            <a:ext cx="713232" cy="100584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46704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9080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1051560"/>
            <a:ext cx="713232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0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7176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82896" y="1051560"/>
            <a:ext cx="71323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82896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05272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50992" y="1051560"/>
            <a:ext cx="71323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50992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73368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19088" y="1051560"/>
            <a:ext cx="713232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088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41464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87184" y="1051560"/>
            <a:ext cx="71323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7184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87184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09560" y="1298448"/>
            <a:ext cx="54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›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1051560"/>
            <a:ext cx="71323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107899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55280" y="1371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286000"/>
            <a:ext cx="2834640" cy="2560320"/>
          </a:xfrm>
          <a:prstGeom prst="rect">
            <a:avLst/>
          </a:prstGeom>
          <a:solidFill>
            <a:srgbClr val="1E3A6E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2286000"/>
            <a:ext cx="2834640" cy="3474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304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Preprocessing?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2697480"/>
            <a:ext cx="2651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preprocessing, the ResNet-34 CNN fails in real-world conditions — inconsistent classroom lighting, sensor noise, head tilt, and BGR/RGB channel mismatch all cause recognition to break.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64408" y="2286000"/>
            <a:ext cx="2834640" cy="2560320"/>
          </a:xfrm>
          <a:prstGeom prst="rect">
            <a:avLst/>
          </a:prstGeom>
          <a:solidFill>
            <a:srgbClr val="1E3A6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64408" y="228600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55848" y="2304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Impact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55848" y="2697480"/>
            <a:ext cx="2651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to 25% reduces pixel count by 94% — making HOG detection run in real time on a standard laptop CPU. Without this, the system would lag severely.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54496" y="2286000"/>
            <a:ext cx="2834640" cy="2560320"/>
          </a:xfrm>
          <a:prstGeom prst="rect">
            <a:avLst/>
          </a:prstGeom>
          <a:solidFill>
            <a:srgbClr val="1E3A6E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54496" y="2286000"/>
            <a:ext cx="28346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2304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Impact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45936" y="2697480"/>
            <a:ext cx="2651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lighting normalisation is critical in lecture halls where one student is near a window and another is in shadow. Without it, HOG detectors miss faces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Preprocessing — Steps 1 to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capture, colour correction, spatial resizing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54864" cy="37490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788920" cy="3474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9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4447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Frame Capture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7373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cv2.VideoCapture() reads frames as NumPy arrays shaped (Height × Width × 3). Values are uint8 (0–255). On Windows, CAP_DSHOW flag is required — the default MSMF backend causes black frames with most laptop webcams.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" y="3337560"/>
            <a:ext cx="265176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364992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ret, frame = camera.read()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shape: (480, 640, 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dtype: uint8  values 0–255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cv2.VideoCapture(0, cv2.CAP_DSHOW)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54864" cy="3749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889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069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4447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RGB Conversion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7373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images in BGR order (legacy hardware convention). face_recognition and ResNet-34 expect RGB. Swapping channels causes every pixel's red and blue to be inverted — skin tones look wrong and the 128-D embedding fails completely.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73552" y="3337560"/>
            <a:ext cx="265176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3364992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frame_rgb = cv2.cvtColor(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frame_bgr,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cv2.COLOR_BGR2RGB)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Must happen BEFORE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face_locations()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face_encodings()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051560"/>
            <a:ext cx="54864" cy="3749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051560"/>
            <a:ext cx="27889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69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81928" y="14447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Resize — 25%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81928" y="17373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uses a sliding window across the image. On a 640×480 frame this is thousands of positions. Resizing to 25% reduces pixels by 94%, enabling real-time 30 FPS on a CPU. Bilinear interpolation preserves face structure. Bounding boxes are scaled back ×4 afterward.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45352" y="3337560"/>
            <a:ext cx="265176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364992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= cv2.resize(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frame_rgb,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(0,0),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fx=0.25, fy=0.25)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INTER_LINEAR 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back: coords × 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Step 5 — CLAHE Lighting Normalisation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preprocessing step for classroom conditions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5720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3749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CLAHE?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 Histogram Equalization divides the image into small 8×8 tiles and equalises the brightness of each tile independently.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clipLimit=2.0 prevents over-amplifying noise in flat areas.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the L (Luminance) channel in LAB colour space — skin tones and eye colours (channels A and B) are not touched, so faces look natural.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simple histogram equalisation? Global equalisation over-brightens already-lit regions and creates unnatural contrast in backgrounds.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4434840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6732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= cv2.cvtColor(frame_rgb, COLOR_RGB2LAB)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l, a, b = cv2.split(lab)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clahe = cv2.createCLAHE(clipLimit=2.0, tileGridSize=(8,8))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l_eq  = clahe.apply(l)        # Only fix brightness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cv2.cvtColor(cv2.merge([l_eq,a,b]), COLOR_LAB2RGB)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74920" y="1051560"/>
            <a:ext cx="3749040" cy="1874520"/>
          </a:xfrm>
          <a:prstGeom prst="rect">
            <a:avLst/>
          </a:prstGeom>
          <a:solidFill>
            <a:srgbClr val="E8F1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Colour Space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417320"/>
          <a:ext cx="3749040" cy="804672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10972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CLAHE 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Lightness (brightness 0–100)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</a:rPr>
                        <a:t>We ONLY modify this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Green ↔ Red colour axis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Untouched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B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Blue ↔ Yellow colour axis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Untouched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74920" y="2999232"/>
            <a:ext cx="3749040" cy="18288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Critical for KDU Lecture Halls?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12080" y="345643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13248" y="34015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lights directly above → harsh top-down shadows on faces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377647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13248" y="37216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near windows → strong backlighting washes out features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12080" y="409651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13248" y="40416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detection needs consistent gradient structure → CLAHE ensures this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441655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13248" y="43616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CLAHE: HOG misses faces in dim/backlit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Step 7 — HOG Face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 + SVM classifier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1645920" cy="32918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698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1645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389888"/>
            <a:ext cx="54864" cy="19933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444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Computation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755648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Gx &amp; Gy for every pixel using Sobel operators.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= √(Gx²+Gy²)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 = arctan(Gy/Gx)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65376" y="19202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56816" y="1051560"/>
            <a:ext cx="16459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0698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56816" y="1389888"/>
            <a:ext cx="1645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56816" y="1389888"/>
            <a:ext cx="54864" cy="1993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1444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Histograms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6544" y="1755648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image into 8×8 cells.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9-bin orientation histogram per cell (0°→160° in 20° steps).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gradient's vote by its magnitude.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21024" y="19202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12464" y="1051560"/>
            <a:ext cx="164592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0698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12464" y="1389888"/>
            <a:ext cx="1645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1389888"/>
            <a:ext cx="54864" cy="19933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1444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Normalisation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1755648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cells into a 16×16 block.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L2-normalise the 36-element descriptor.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robust to local lighting variation.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76672" y="19202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68112" y="1051560"/>
            <a:ext cx="164592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10698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68112" y="1389888"/>
            <a:ext cx="1645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68112" y="1389888"/>
            <a:ext cx="54864" cy="19933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1444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1755648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64×128 window with 8px strides.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HOG descriptor to pretrained linear SVM.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outputs: face (1) or non-face (−1).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32320" y="19202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23760" y="1051560"/>
            <a:ext cx="16459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0698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1389888"/>
            <a:ext cx="1645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1389888"/>
            <a:ext cx="54864" cy="19933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4447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Pyramid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33488" y="1755648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at multiple scales (downsample ×1.05).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small &amp; large faces.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 merges overlapping boxes.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520440"/>
            <a:ext cx="5029200" cy="1417320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47872"/>
            <a:ext cx="49377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face_locations = face_recognition.face_locations(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small_frame, model='hog')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Returns: [(top, right, bottom, left), 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back: [coord*4 for coord in face_location]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face_encodings = face_recognition.face_encodings(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small_frame, face_locations)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0680" y="35204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40680" y="3520440"/>
            <a:ext cx="54864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566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 vs  CNN Detection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3858768"/>
          <a:ext cx="3429000" cy="10058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1430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HOG (ours)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Speed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Real-time 30 FPS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A580C"/>
                          </a:solidFill>
                        </a:rPr>
                        <a:t>5–10× slower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Good frontal faces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Better angles/dim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Use for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Live verification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Registration capture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Steps 11 &amp; 12 — ResNet-34 Encoding + Euclidean Matching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learning core of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1E3A6E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CNN Encoding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472184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weight layers deep (residual / skip connections)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81051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solve the vanishing gradient problem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14884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3 million faces (LFW dataset)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487168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with Triplet Loss for face verification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82549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70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128-dimensional float64 vector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3163824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 of output ≈ 1.0 (unit vector)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50215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of same person → vectors cluster together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384048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of different people → vectors far apart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3977640" cy="658368"/>
          </a:xfrm>
          <a:prstGeom prst="rect">
            <a:avLst/>
          </a:prstGeom>
          <a:solidFill>
            <a:srgbClr val="0D102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33088"/>
            <a:ext cx="3904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face_encodings = face_recognition.face_encodings(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frame_rgb, face_locations)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encoding.shape → (128,)  dtype: float64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1E3A6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9784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Matching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3898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d(A,B) = √ Σ (Aᵢ − Bᵢ)²   for i = 0 → 127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755648"/>
          <a:ext cx="4206240" cy="1207008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05840"/>
              </a:tblGrid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 – 0.30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Very high confidence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</a:rPr>
                        <a:t>✓ Verified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0.30 – 0.50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Normal real-world match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</a:rPr>
                        <a:t>✓ Verified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0.50 – 0.60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Borderline — similar face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</a:rPr>
                        <a:t>✗ Rejected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0.60 – 1.0+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Different person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✗ Rejected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663440" y="3017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THRESHOLD: 0.50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75488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strict enough to reject similar-looking people, lenient enough for normal lighting/angle variation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36592" y="3803904"/>
            <a:ext cx="4059936" cy="969264"/>
          </a:xfrm>
          <a:prstGeom prst="rect">
            <a:avLst/>
          </a:prstGeom>
          <a:solidFill>
            <a:srgbClr val="0D10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3168" y="3822192"/>
            <a:ext cx="39867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distances = face_recognition.face_distance(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known_encodings, live_encoding)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best_idx = np.argmin(distances)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distances[best_idx] &lt;= 0.50: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known_names[best_idx]  # VERIFIED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ResNet-34 — Triplet Loss Training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learned to distinguish faces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560320" cy="21031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385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student 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051560"/>
            <a:ext cx="2560320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4680" y="14813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1810512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9385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1546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photo of X (different angle/day)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1051560"/>
            <a:ext cx="2560320" cy="2103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14813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person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810512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9385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student 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84448"/>
            <a:ext cx="859536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11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LOSS  =  max( 0,   d(Anchor, Positive) − d(Anchor, Negative) + margin 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60520"/>
            <a:ext cx="54864" cy="7772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7880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network learns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434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Anchor close to Positive.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Anchor far from Negative.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millions of steps → same-person embeddings cluster together in 128-D space.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41605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4160520"/>
            <a:ext cx="5486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417880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learning result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55848" y="4434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128-D embedding space has a geometric property: any two photos of the same person produce nearby vectors regardless of lighting or angle.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41605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416052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417880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4434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need to store ONE encoding per student. The model generalises — different lighting, slight angle changes, and different days all produce nearby embeddings.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Preprocessing — Steps 4, 6, 8, 9 &amp; 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Gaussian Blur, ROI Crop, Alignment, Normalisation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64208" cy="32918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80744"/>
            <a:ext cx="166420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0744"/>
            <a:ext cx="54864" cy="3419856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53896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152704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works on brightness gradients — colour is irrelevant. Formula: Gray = 0.299R + 0.587G + 0.114B (perceptual weights matching human eye sensitivity). Reduces per-pixel data by 3×.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66544" y="1051560"/>
            <a:ext cx="1664208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10698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66544" y="1380744"/>
            <a:ext cx="166420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66544" y="1380744"/>
            <a:ext cx="54864" cy="34198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1453896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57984" y="1764792"/>
            <a:ext cx="152704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sensors produce random noise (pixels that should be 120 read as 117 or 124). GaussianBlur(3,3,σ=0.5) averages each pixel with its neighbours using a bell-curve weight. Removes noise without blurring face edges HOG needs.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58768" y="1051560"/>
            <a:ext cx="1664208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10698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58768" y="1380744"/>
            <a:ext cx="166420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58768" y="1380744"/>
            <a:ext cx="54864" cy="34198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1453896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Crop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50208" y="1764792"/>
            <a:ext cx="152704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only the face region (+20px padding) from the full frame. Prevents ResNet-34 from processing irrelevant background content. 20px border preserves jaw/hairline features that a tight crop would cut.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50992" y="1051560"/>
            <a:ext cx="16642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10698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1380744"/>
            <a:ext cx="166420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50992" y="1380744"/>
            <a:ext cx="54864" cy="34198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1453896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Alignment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42432" y="1764792"/>
            <a:ext cx="152704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dlib's 5-point landmark predictor locates eye corners, nose tip, mouth corners. An affine transformation matrix rotates the face so both eyes are horizontal. Reduces embedding variance from head tilt.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43216" y="1051560"/>
            <a:ext cx="166420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8936" y="10698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43216" y="1380744"/>
            <a:ext cx="166420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43216" y="1380744"/>
            <a:ext cx="54864" cy="34198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1453896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34656" y="1764792"/>
            <a:ext cx="152704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pixels from [0,255] to [0.0,1.0] then applies ImageNet mean=[0.485,0.456,0.406] and std=[0.229,0.224,0.225]. Ensures CNN input matches training distribution — prevents unstable activations.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Code Walkthrough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 explained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21031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load_known_faces()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at startup. Reads every image from images/ folder, converts BGR→RGB, generates a 128-D encoding, and caches in memory as global lists for fast comparison. IndexError handling skips corrupted files without crashing.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331720"/>
            <a:ext cx="3977640" cy="713232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50008"/>
            <a:ext cx="3904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filename in os.listdir(IMAGE_FOLDER):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cv2.cvtColor(img, cv2.COLOR_BGR2RGB)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 = face_recognition.face_encodings(img)[0]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known_face_encodings.append(enc)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4251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51560"/>
            <a:ext cx="54864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15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gen_frames() — Camera Generator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42646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generator using 'yield' — continuously sends JPEG frames to the browser as a multipart HTTP stream (MJPEG). Two modes: Registration (photo overlay only) vs Verification (full 11-step preprocessing + MongoDB log).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0872" y="2331720"/>
            <a:ext cx="4105656" cy="713232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350008"/>
            <a:ext cx="40325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ret, frame = camera.read()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preprocessing 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(b'--frame\r\n' + jpeg_bytes)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91840"/>
            <a:ext cx="54864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55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 (60-second window)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657600"/>
            <a:ext cx="3977640" cy="1115568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75888"/>
            <a:ext cx="3904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attendance_collection.find_one(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name, "subject": subj},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sort=[("timestamp", -1)])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= (datetime.now()-last['timestamp']).total_seconds()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diff &lt; 60: should_log = False  # Skip duplicate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3291840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291840"/>
            <a:ext cx="54864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355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Attendance Insert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90872" y="3657600"/>
            <a:ext cx="4105656" cy="1115568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675888"/>
            <a:ext cx="40325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should_log: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attendance_collection.insert_one({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     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"subject":   current_subject,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"timestamp": datetime.now()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Database Design — MongoDB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storage for attendance logs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474720"/>
          </a:xfrm>
          <a:prstGeom prst="rect">
            <a:avLst/>
          </a:prstGeom>
          <a:solidFill>
            <a:srgbClr val="0D1B3E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Document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"MALINDU_KAVISHAN--D/DBA/23/0012",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"subject": "Digital Image Processing",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"2025-03-17T10:45:32"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20440"/>
          <a:ext cx="3931920" cy="896112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92024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56A0"/>
                          </a:solidFill>
                        </a:rPr>
                        <a:t>String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Student name + ID (from filename)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subject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56A0"/>
                          </a:solidFill>
                        </a:rPr>
                        <a:t>String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Subject from URL parameter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timestamp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56A0"/>
                          </a:solidFill>
                        </a:rPr>
                        <a:t>DateTime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Python datetime.now() at verification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434840" y="1051560"/>
            <a:ext cx="4389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051560"/>
            <a:ext cx="54864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MongoDB over SQL?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51790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schema — add fields later without ALTER TABLE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83794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with subject filter returns results in one operation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215798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dict integration via PyMongo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247802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2423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timestamp queries for date-range reports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34840" y="2999232"/>
            <a:ext cx="4389120" cy="1417320"/>
          </a:xfrm>
          <a:prstGeom prst="rect">
            <a:avLst/>
          </a:prstGeom>
          <a:solidFill>
            <a:srgbClr val="1E2D4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30175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all records for a subject, newest first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 = attendance_collection.find(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{"subject": subject_filter}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).sort("timestamp", -1)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60-sec duplicate check: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attendance_collection.find_one(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name, "subject": subj},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sort=[("timestamp", -1)])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434840" y="4480560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34840" y="4480560"/>
            <a:ext cx="54864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5171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Start: 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06440" y="45171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start MongoDB  (run CMD as Administrator)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Progress Review — What We Have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37490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53619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8132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11-step image preprocessing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81051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5564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face detection running in real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0848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2996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face encoding (128-D vectors)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35915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0428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matching (tolerance 0.50)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63347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7860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 with full routing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290779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5292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module (admin-only)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2724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face verification with bounding boxes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34564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0156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attendance logging with timestamps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" y="373075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7588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duplicate prevention logic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" y="400507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5020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with subject-based filtering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" y="427939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2452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preprocessing demo page (/preprocessing)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" y="455371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49884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compatibility (DirectShow + reloader fix)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0698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PLANNED / FUTURE WORK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36592" y="153619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48132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confirmation (3 consecutive frames)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1938528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1883664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detection (MTCNN or SSD) for better accuracy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6592" y="2340864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28600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alignment (landmark-based rotation) as preprocessing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274320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688336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attendance to Excel / CSV from dashboard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145536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090672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when attendance is marked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6592" y="354787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4930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module (liveness detection)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36592" y="3950208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895344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support for large lecture halls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36592" y="4352544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29768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 on a formal test dataset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331720"/>
            <a:ext cx="6400800" cy="1280160"/>
          </a:xfrm>
          <a:prstGeom prst="rect">
            <a:avLst/>
          </a:prstGeom>
          <a:solidFill>
            <a:srgbClr val="1E3A6E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3957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11-step preprocessing pipeline is the core of our system  •  ResNet-34 produces 128-D face fingerprints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&lt; 0.50 verifies identity  •  MongoDB stores all attendance with duplicate prevention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3931920"/>
            <a:ext cx="914400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CS31092 — Digital Image Processing  |  Group 04  |  General Sir John Kotelawala Defence University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D/BCE/24/0007  DMMH Dissanayake   |   D/BCS/24/0010  HDT Gajanayaka   |   D/DBA/23/0012  OM Kavishan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451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github.com/Malindu7/Attendance_System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Verification Attendance System</dc:title>
  <dc:subject>PptxGenJS Presentation</dc:subject>
  <dc:creator>PptxGenJS</dc:creator>
  <cp:lastModifiedBy>PptxGenJS</cp:lastModifiedBy>
  <cp:revision>1</cp:revision>
  <dcterms:created xsi:type="dcterms:W3CDTF">2026-03-16T20:14:46Z</dcterms:created>
  <dcterms:modified xsi:type="dcterms:W3CDTF">2026-03-16T20:14:46Z</dcterms:modified>
</cp:coreProperties>
</file>