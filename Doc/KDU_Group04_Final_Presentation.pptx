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MALINDU (OM Kavishan / whoever opens):
"Good morning. We are Group 04 from the Faculty of Computing at KDU. Our project is a Face Verification Attendance System, developed for the CS31092 Digital Image Processing module. The system automates student attendance using a live webcam — students simply stand in front of the camera and the system recognises their face and marks them present automatically. Today we will walk you through how the system works, the preprocessing pipeline at its core, and what we have completed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DISSANAYAKE:
"Here is our agenda for today. We will start by explaining the problem that motivated this project and what we built to solve it. Then we move into the system architecture — how students are registered and how attendance is taken. The core of our presentation is the image preprocessing pipeline, which has 11 steps and is the most technically important part of the system. After that we will cover HOG face detection, ResNet-34 face recognition, our code structure and database, and finally our progress and future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GAJANAYAKA:
"The problem we faced is one every lecturer knows — taking attendance manually is slow, disruptive, and unreliable. Students can sign for each other, data gets entered wrongly, and there is no way to check attendance in real time.
Our solution is simple in concept: we put a camera in the classroom. When a student stands in front of it, the system automatically recognises their face and marks them present. No roll call. No paper. No effort from the lecturer at all. All records go straight into a database that the lecturer can check from any browser at any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MALINDU:
"Our system has two modes. Registration mode is used once per student — an admin logs in, the camera shows a live preview, and when the admin clicks capture, one photo is saved. That photo is processed into a 128-number face fingerprint and stored in memory.
Verification mode runs continuously during class. Every frame from the camera passes through our 11-step preprocessing pipeline, then through the HOG detector to find the face, then through ResNet-34 to get the 128-number fingerprint, and finally we compare it with all stored student fingerprints. If we find a match, attendance is logged to MongoDB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DISSANAYAKE:
"Now we come to the most important part — the preprocessing pipeline. Before we can identify anyone, we must prepare the image. Think of it like preparing ingredients before cooking — you cannot skip this step.
We have 11 steps. Each one solves a specific real-world problem. Without the BGR to RGB fix, the AI sees wrong colours and produces a completely wrong fingerprint. Without CLAHE, the system cannot detect faces in a dark corner of the room. Without the resize, the system is too slow to run in real time.
Let me walk you through each step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GAJANAYAKA:
"Step one is simply capturing the image from the camera. OpenCV reads 30 frames per second and gives us each one as a grid of numbers. On Windows we had to add a special DirectShow flag because without it the camera just showed black frames.
Step two is a crucial fix. OpenCV stores colours in BGR order — Blue, Green, Red. But our AI model expects RGB — Red, Green, Blue. If we don't swap them, every person's skin tone looks wrong to the AI and the 128-number fingerprint it produces is completely incorrect. One line of code fixes this but skipping it breaks the whole system.
Step three — we shrink the image to 25% of its size. This makes the face-finding process 94% faster, allowing the whole system to run in real time on a normal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MALINDU:
"Step four converts the image to grayscale — black and white. Our face detector, HOG, only looks at where brightness changes in the image, so colour is irrelevant. Removing colour makes processing three times faster. The formula we use weights green most heavily because the human eye is most sensitive to green — this gives us the most accurate brightness representation.
Step five is CLAHE — our lighting fix. In a lecture hall, one student might be sitting near a window with strong backlight making their face dark, while another is under a bright ceiling light. If we don't fix this, the face detector simply cannot see the dark faces. CLAHE divides the image into small tiles and fixes the brightness of each tile separately. Critically, we apply it only to the brightness channel in LAB colour space — so skin tones stay natural and the colours are not distorted."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DISSANAYAKE:
"Step six — Gaussian Blur. Camera sensors are not perfect. Even in good lighting, every pixel has a tiny random error. These errors create small fake edges in the image that our face detector mistakes for real facial features, causing it to get confused. Gaussian Blur smooths these out by replacing each pixel with a weighted average of its neighbours. Real edges survive because they span many pixels. Random noise gets averaged away.
Step seven is HOG — Histogram of Oriented Gradients. This is how the system finds where the face is. HOG scans the image looking for patterns of brightness change that match the shape of a face — the dark hollows of the eyes, the bump of the nose, the curve of the jaw. When it finds these patterns, it draws a box around that area.
Step eight — we crop just the face out of the image. We don't need the background, the wall, or other students. We cut out only the face region, with a small 20-pixel border to make sure we don't cut off the chin or forehead."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GAJANAYAKA:
"Step nine — face alignment. If a student tilts their head even slightly, the AI produces a different result. We find the positions of the eyes using facial landmarks and rotate the entire face image so both eyes are always in the same horizontal position. This makes the 128-number fingerprint much more consistent.
Step ten — normalisation. The AI model was trained with pixel values in a specific numerical range. If we send raw values from 0 to 255, it produces wrong results. We scale everything down and apply a standard adjustment called ImageNet normalisation. This ensures the AI receives data in exactly the format it was trained on.
Step eleven — ResNet-34 encoding. This is the heart of the recognition system. We feed the fully prepared face into a deep neural network with 34 layers, trained on 3 million face photos. It outputs exactly 128 numbers — a unique fingerprint for that face. Same person gives similar numbers every time. Different people give very different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MALINDU:
"HOG — Histogram of Oriented Gradients — is how our system finds the face in the image. It works in five stages.
First, it measures how much brightness changes at every pixel and in which direction — this gives us the edges of objects. Second, it divides the image into small 8×8 pixel cells and builds a histogram — a count of which directions the brightness changes in that cell. Third, it groups cells into blocks and normalises the numbers so that lighting differences don't affect the result. Fourth, a trained classifier called SVM slides a window across the image and asks at every position: does this pattern look like a face? Fifth, this whole process is repeated at multiple scales so we can detect both nearby and distant faces.
We chose HOG over CNN detection because HOG runs at real-time speed — 30 frames per second on a normal laptop. CNN is more accurate for angled faces but too slow for live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DISSANAYAKE:
"ResNet-34 is the brain of our system. It is a neural network with 34 layers, trained on 3 million face photographs. When we pass a face image to it, it outputs 128 numbers. Think of these 128 numbers as coordinates in a mathematical space — a fingerprint for that face. The same person always ends up in a similar location in that space. Different people end up in very different locations.
Once we have the 128 numbers for the live face, we compare them to the 128 numbers stored for every registered student. We calculate the Euclidean distance — the straight-line distance between the two sets of 128 numbers. The student with the smallest distance is the best match.
We set our threshold at 0.50. If the distance is below 0.50, the student is verified and attendance is marked. If it is above 0.50, we say Unknown and do nothing. We chose 0.50 because it is strict enough to reject similar-looking people but lenient enough to handle normal variation in lighting and head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GAJANAYAKA:
"Let me quickly walk through the four key pieces of code that hold the system together.
load_known_faces runs once when the application starts. It reads every student photo from the images folder, applies the preprocessing, generates the 128-number fingerprint, and keeps it in memory ready for fast comparison.
gen_frames is the live video engine. It runs continuously, grabbing 30 frames per second from the camera, running all 11 preprocessing steps on each frame, doing the face matching, and streaming the result to the browser.
The duplicate prevention check queries MongoDB before every insert. If the same student was already logged for the same subject in the last 60 seconds, we skip. Without this, one student standing still would generate hundreds of records.
Finally the MongoDB insert — three fields only: name, subject, and timestamp. Simple, clean, and instantly queryable from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 MALINDU:
"In terms of progress, we have fully completed the core system. The entire 11-step preprocessing pipeline is implemented and running. HOG detection, ResNet-34 encoding, Euclidean matching, the Flask web application, student registration, live verification with visual bounding boxes, MongoDB logging, duplicate prevention, the attendance dashboard, and Windows compatibility — all done and working.
For future work, we plan to add multi-frame confirmation so that a face must be verified in 3 consecutive frames before attendance is marked — this reduces false positives. We also want to add CNN-based detection for better accuracy with angled faces, an Excel export feature for lecturers, an anti-spoofing module to prevent someone holding a printed photo in front of the camera, and a formal accuracy evaluation on a proper test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SPEAKERS — closing together:
"Thank you for your time. To summarise: our system solves manual attendance with three stages — first, an 11-step preprocessing pipeline cleans every camera frame; second, ResNet-34 converts each face into 128 unique numbers and Euclidean distance verifies the match; third, verified attendance is logged instantly to MongoDB and viewable on a web dashboard.
We are happy to take any questions."
TIPS FOR Q&amp;A:
- If asked about CLAHE: explain the LAB colour space and 8×8 tiles
- If asked about threshold: explain 0.50 was chosen by testing — strict enough to reject similar faces, lenient enough for lighting variation
- If asked about Windows issues: mention CAP_DSHOW and use_reloader=False
- If asked about accuracy: acknowledge we plan formal evaluation — LFW benchmark shows 99.38% for the model
- If asked about security: acknowledge photo attack vulnerability and mention anti-spoofing as planned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w="12700">
            <a:solidFill>
              <a:srgbClr val="00BCD4"/>
            </a:solidFill>
            <a:prstDash val="solid"/>
          </a:ln>
        </p:spPr>
      </p:sp>
      <p:sp>
        <p:nvSpPr>
          <p:cNvPr id="3" name="Shape 1"/>
          <p:cNvSpPr/>
          <p:nvPr/>
        </p:nvSpPr>
        <p:spPr>
          <a:xfrm>
            <a:off x="0" y="5088636"/>
            <a:ext cx="9144000" cy="54864"/>
          </a:xfrm>
          <a:prstGeom prst="rect">
            <a:avLst/>
          </a:prstGeom>
          <a:solidFill>
            <a:srgbClr val="00BCD4"/>
          </a:solidFill>
          <a:ln w="12700">
            <a:solidFill>
              <a:srgbClr val="00BCD4"/>
            </a:solidFill>
            <a:prstDash val="solid"/>
          </a:ln>
        </p:spPr>
      </p:sp>
      <p:sp>
        <p:nvSpPr>
          <p:cNvPr id="4" name="Shape 2"/>
          <p:cNvSpPr/>
          <p:nvPr/>
        </p:nvSpPr>
        <p:spPr>
          <a:xfrm>
            <a:off x="0" y="822960"/>
            <a:ext cx="9144000" cy="2743200"/>
          </a:xfrm>
          <a:prstGeom prst="rect">
            <a:avLst/>
          </a:prstGeom>
          <a:solidFill>
            <a:srgbClr val="132C5A"/>
          </a:solidFill>
          <a:ln w="12700">
            <a:solidFill>
              <a:srgbClr val="132C5A"/>
            </a:solidFill>
            <a:prstDash val="solid"/>
          </a:ln>
        </p:spPr>
      </p:sp>
      <p:sp>
        <p:nvSpPr>
          <p:cNvPr id="5" name="Text 3"/>
          <p:cNvSpPr/>
          <p:nvPr/>
        </p:nvSpPr>
        <p:spPr>
          <a:xfrm>
            <a:off x="457200" y="914400"/>
            <a:ext cx="8229600" cy="1005840"/>
          </a:xfrm>
          <a:prstGeom prst="rect">
            <a:avLst/>
          </a:prstGeom>
          <a:noFill/>
          <a:ln/>
        </p:spPr>
        <p:txBody>
          <a:bodyPr wrap="square" rtlCol="0" anchor="ctr"/>
          <a:lstStyle/>
          <a:p>
            <a:pPr algn="ctr" indent="0" marL="0">
              <a:buNone/>
            </a:pPr>
            <a:r>
              <a:rPr lang="en-US" sz="5000" b="1" dirty="0">
                <a:solidFill>
                  <a:srgbClr val="FFFFFF"/>
                </a:solidFill>
                <a:latin typeface="Calibri" pitchFamily="34" charset="0"/>
                <a:ea typeface="Calibri" pitchFamily="34" charset="-122"/>
                <a:cs typeface="Calibri" pitchFamily="34" charset="-120"/>
              </a:rPr>
              <a:t>Face Verification</a:t>
            </a:r>
            <a:endParaRPr lang="en-US" sz="5000" dirty="0"/>
          </a:p>
        </p:txBody>
      </p:sp>
      <p:sp>
        <p:nvSpPr>
          <p:cNvPr id="6" name="Text 4"/>
          <p:cNvSpPr/>
          <p:nvPr/>
        </p:nvSpPr>
        <p:spPr>
          <a:xfrm>
            <a:off x="457200" y="1828800"/>
            <a:ext cx="8229600" cy="914400"/>
          </a:xfrm>
          <a:prstGeom prst="rect">
            <a:avLst/>
          </a:prstGeom>
          <a:noFill/>
          <a:ln/>
        </p:spPr>
        <p:txBody>
          <a:bodyPr wrap="square" rtlCol="0" anchor="ctr"/>
          <a:lstStyle/>
          <a:p>
            <a:pPr algn="ctr" indent="0" marL="0">
              <a:buNone/>
            </a:pPr>
            <a:r>
              <a:rPr lang="en-US" sz="5000" b="1" dirty="0">
                <a:solidFill>
                  <a:srgbClr val="00BCD4"/>
                </a:solidFill>
                <a:latin typeface="Calibri" pitchFamily="34" charset="0"/>
                <a:ea typeface="Calibri" pitchFamily="34" charset="-122"/>
                <a:cs typeface="Calibri" pitchFamily="34" charset="-120"/>
              </a:rPr>
              <a:t>Attendance System</a:t>
            </a:r>
            <a:endParaRPr lang="en-US" sz="5000" dirty="0"/>
          </a:p>
        </p:txBody>
      </p:sp>
      <p:sp>
        <p:nvSpPr>
          <p:cNvPr id="7" name="Text 5"/>
          <p:cNvSpPr/>
          <p:nvPr/>
        </p:nvSpPr>
        <p:spPr>
          <a:xfrm>
            <a:off x="457200" y="2788920"/>
            <a:ext cx="8229600" cy="384048"/>
          </a:xfrm>
          <a:prstGeom prst="rect">
            <a:avLst/>
          </a:prstGeom>
          <a:noFill/>
          <a:ln/>
        </p:spPr>
        <p:txBody>
          <a:bodyPr wrap="square" rtlCol="0" anchor="ctr"/>
          <a:lstStyle/>
          <a:p>
            <a:pPr algn="ctr" indent="0" marL="0">
              <a:buNone/>
            </a:pPr>
            <a:r>
              <a:rPr lang="en-US" sz="1400" i="1" dirty="0">
                <a:solidFill>
                  <a:srgbClr val="90A4AE"/>
                </a:solidFill>
                <a:latin typeface="Calibri" pitchFamily="34" charset="0"/>
                <a:ea typeface="Calibri" pitchFamily="34" charset="-122"/>
                <a:cs typeface="Calibri" pitchFamily="34" charset="-120"/>
              </a:rPr>
              <a:t>Using Real-Time Face Recognition &amp; Deep Learning</a:t>
            </a:r>
            <a:endParaRPr lang="en-US" sz="1400" dirty="0"/>
          </a:p>
        </p:txBody>
      </p:sp>
      <p:sp>
        <p:nvSpPr>
          <p:cNvPr id="8" name="Shape 6"/>
          <p:cNvSpPr/>
          <p:nvPr/>
        </p:nvSpPr>
        <p:spPr>
          <a:xfrm>
            <a:off x="630936" y="3657600"/>
            <a:ext cx="1207008" cy="274320"/>
          </a:xfrm>
          <a:prstGeom prst="rect">
            <a:avLst/>
          </a:prstGeom>
          <a:solidFill>
            <a:srgbClr val="1565C0"/>
          </a:solidFill>
          <a:ln w="12700">
            <a:solidFill>
              <a:srgbClr val="1565C0"/>
            </a:solidFill>
            <a:prstDash val="solid"/>
          </a:ln>
        </p:spPr>
      </p:sp>
      <p:sp>
        <p:nvSpPr>
          <p:cNvPr id="9" name="Text 7"/>
          <p:cNvSpPr/>
          <p:nvPr/>
        </p:nvSpPr>
        <p:spPr>
          <a:xfrm>
            <a:off x="630936"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Python</a:t>
            </a:r>
            <a:endParaRPr lang="en-US" sz="1000" dirty="0"/>
          </a:p>
        </p:txBody>
      </p:sp>
      <p:sp>
        <p:nvSpPr>
          <p:cNvPr id="10" name="Shape 8"/>
          <p:cNvSpPr/>
          <p:nvPr/>
        </p:nvSpPr>
        <p:spPr>
          <a:xfrm>
            <a:off x="1965960" y="3657600"/>
            <a:ext cx="1207008" cy="274320"/>
          </a:xfrm>
          <a:prstGeom prst="rect">
            <a:avLst/>
          </a:prstGeom>
          <a:solidFill>
            <a:srgbClr val="1565C0"/>
          </a:solidFill>
          <a:ln w="12700">
            <a:solidFill>
              <a:srgbClr val="1565C0"/>
            </a:solidFill>
            <a:prstDash val="solid"/>
          </a:ln>
        </p:spPr>
      </p:sp>
      <p:sp>
        <p:nvSpPr>
          <p:cNvPr id="11" name="Text 9"/>
          <p:cNvSpPr/>
          <p:nvPr/>
        </p:nvSpPr>
        <p:spPr>
          <a:xfrm>
            <a:off x="1965960"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Flask</a:t>
            </a:r>
            <a:endParaRPr lang="en-US" sz="1000" dirty="0"/>
          </a:p>
        </p:txBody>
      </p:sp>
      <p:sp>
        <p:nvSpPr>
          <p:cNvPr id="12" name="Shape 10"/>
          <p:cNvSpPr/>
          <p:nvPr/>
        </p:nvSpPr>
        <p:spPr>
          <a:xfrm>
            <a:off x="3300984" y="3657600"/>
            <a:ext cx="1207008" cy="274320"/>
          </a:xfrm>
          <a:prstGeom prst="rect">
            <a:avLst/>
          </a:prstGeom>
          <a:solidFill>
            <a:srgbClr val="1565C0"/>
          </a:solidFill>
          <a:ln w="12700">
            <a:solidFill>
              <a:srgbClr val="1565C0"/>
            </a:solidFill>
            <a:prstDash val="solid"/>
          </a:ln>
        </p:spPr>
      </p:sp>
      <p:sp>
        <p:nvSpPr>
          <p:cNvPr id="13" name="Text 11"/>
          <p:cNvSpPr/>
          <p:nvPr/>
        </p:nvSpPr>
        <p:spPr>
          <a:xfrm>
            <a:off x="3300984"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OpenCV</a:t>
            </a:r>
            <a:endParaRPr lang="en-US" sz="1000" dirty="0"/>
          </a:p>
        </p:txBody>
      </p:sp>
      <p:sp>
        <p:nvSpPr>
          <p:cNvPr id="14" name="Shape 12"/>
          <p:cNvSpPr/>
          <p:nvPr/>
        </p:nvSpPr>
        <p:spPr>
          <a:xfrm>
            <a:off x="4636008" y="3657600"/>
            <a:ext cx="1207008" cy="274320"/>
          </a:xfrm>
          <a:prstGeom prst="rect">
            <a:avLst/>
          </a:prstGeom>
          <a:solidFill>
            <a:srgbClr val="1565C0"/>
          </a:solidFill>
          <a:ln w="12700">
            <a:solidFill>
              <a:srgbClr val="1565C0"/>
            </a:solidFill>
            <a:prstDash val="solid"/>
          </a:ln>
        </p:spPr>
      </p:sp>
      <p:sp>
        <p:nvSpPr>
          <p:cNvPr id="15" name="Text 13"/>
          <p:cNvSpPr/>
          <p:nvPr/>
        </p:nvSpPr>
        <p:spPr>
          <a:xfrm>
            <a:off x="4636008"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face_recognition</a:t>
            </a:r>
            <a:endParaRPr lang="en-US" sz="1000" dirty="0"/>
          </a:p>
        </p:txBody>
      </p:sp>
      <p:sp>
        <p:nvSpPr>
          <p:cNvPr id="16" name="Shape 14"/>
          <p:cNvSpPr/>
          <p:nvPr/>
        </p:nvSpPr>
        <p:spPr>
          <a:xfrm>
            <a:off x="5971032" y="3657600"/>
            <a:ext cx="1207008" cy="274320"/>
          </a:xfrm>
          <a:prstGeom prst="rect">
            <a:avLst/>
          </a:prstGeom>
          <a:solidFill>
            <a:srgbClr val="1565C0"/>
          </a:solidFill>
          <a:ln w="12700">
            <a:solidFill>
              <a:srgbClr val="1565C0"/>
            </a:solidFill>
            <a:prstDash val="solid"/>
          </a:ln>
        </p:spPr>
      </p:sp>
      <p:sp>
        <p:nvSpPr>
          <p:cNvPr id="17" name="Text 15"/>
          <p:cNvSpPr/>
          <p:nvPr/>
        </p:nvSpPr>
        <p:spPr>
          <a:xfrm>
            <a:off x="5971032"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dlib</a:t>
            </a:r>
            <a:endParaRPr lang="en-US" sz="1000" dirty="0"/>
          </a:p>
        </p:txBody>
      </p:sp>
      <p:sp>
        <p:nvSpPr>
          <p:cNvPr id="18" name="Shape 16"/>
          <p:cNvSpPr/>
          <p:nvPr/>
        </p:nvSpPr>
        <p:spPr>
          <a:xfrm>
            <a:off x="7306056" y="3657600"/>
            <a:ext cx="1207008" cy="274320"/>
          </a:xfrm>
          <a:prstGeom prst="rect">
            <a:avLst/>
          </a:prstGeom>
          <a:solidFill>
            <a:srgbClr val="1565C0"/>
          </a:solidFill>
          <a:ln w="12700">
            <a:solidFill>
              <a:srgbClr val="1565C0"/>
            </a:solidFill>
            <a:prstDash val="solid"/>
          </a:ln>
        </p:spPr>
      </p:sp>
      <p:sp>
        <p:nvSpPr>
          <p:cNvPr id="19" name="Text 17"/>
          <p:cNvSpPr/>
          <p:nvPr/>
        </p:nvSpPr>
        <p:spPr>
          <a:xfrm>
            <a:off x="7306056" y="3657600"/>
            <a:ext cx="120700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MongoDB</a:t>
            </a:r>
            <a:endParaRPr lang="en-US" sz="1000" dirty="0"/>
          </a:p>
        </p:txBody>
      </p:sp>
      <p:sp>
        <p:nvSpPr>
          <p:cNvPr id="20" name="Shape 18"/>
          <p:cNvSpPr/>
          <p:nvPr/>
        </p:nvSpPr>
        <p:spPr>
          <a:xfrm>
            <a:off x="0" y="4069080"/>
            <a:ext cx="9144000" cy="1024128"/>
          </a:xfrm>
          <a:prstGeom prst="rect">
            <a:avLst/>
          </a:prstGeom>
          <a:solidFill>
            <a:srgbClr val="070F24"/>
          </a:solidFill>
          <a:ln w="12700">
            <a:solidFill>
              <a:srgbClr val="070F24"/>
            </a:solidFill>
            <a:prstDash val="solid"/>
          </a:ln>
        </p:spPr>
      </p:sp>
      <p:sp>
        <p:nvSpPr>
          <p:cNvPr id="21" name="Text 19"/>
          <p:cNvSpPr/>
          <p:nvPr/>
        </p:nvSpPr>
        <p:spPr>
          <a:xfrm>
            <a:off x="457200" y="4133088"/>
            <a:ext cx="8229600" cy="274320"/>
          </a:xfrm>
          <a:prstGeom prst="rect">
            <a:avLst/>
          </a:prstGeom>
          <a:noFill/>
          <a:ln/>
        </p:spPr>
        <p:txBody>
          <a:bodyPr wrap="square" rtlCol="0" anchor="ctr"/>
          <a:lstStyle/>
          <a:p>
            <a:pPr algn="ctr" indent="0" marL="0">
              <a:buNone/>
            </a:pPr>
            <a:r>
              <a:rPr lang="en-US" sz="1100" b="1" dirty="0">
                <a:solidFill>
                  <a:srgbClr val="00BCD4"/>
                </a:solidFill>
                <a:latin typeface="Calibri" pitchFamily="34" charset="0"/>
                <a:ea typeface="Calibri" pitchFamily="34" charset="-122"/>
                <a:cs typeface="Calibri" pitchFamily="34" charset="-120"/>
              </a:rPr>
              <a:t>CS31092 — Digital Image Processing  |  Group 04  |  General Sir John Kotelawala Defence University (KDU)</a:t>
            </a:r>
            <a:endParaRPr lang="en-US" sz="1100" dirty="0"/>
          </a:p>
        </p:txBody>
      </p:sp>
      <p:sp>
        <p:nvSpPr>
          <p:cNvPr id="22" name="Text 20"/>
          <p:cNvSpPr/>
          <p:nvPr/>
        </p:nvSpPr>
        <p:spPr>
          <a:xfrm>
            <a:off x="457200" y="4443984"/>
            <a:ext cx="8229600" cy="237744"/>
          </a:xfrm>
          <a:prstGeom prst="rect">
            <a:avLst/>
          </a:prstGeom>
          <a:noFill/>
          <a:ln/>
        </p:spPr>
        <p:txBody>
          <a:bodyPr wrap="square" rtlCol="0" anchor="ctr"/>
          <a:lstStyle/>
          <a:p>
            <a:pPr algn="ctr" indent="0" marL="0">
              <a:buNone/>
            </a:pPr>
            <a:r>
              <a:rPr lang="en-US" sz="1050" dirty="0">
                <a:solidFill>
                  <a:srgbClr val="90A4AE"/>
                </a:solidFill>
                <a:latin typeface="Calibri" pitchFamily="34" charset="0"/>
                <a:ea typeface="Calibri" pitchFamily="34" charset="-122"/>
                <a:cs typeface="Calibri" pitchFamily="34" charset="-120"/>
              </a:rPr>
              <a:t>D/BCE/24/0007  DMMH Dissanayake     |     D/BCS/24/0010  HDT Gajanayaka     |     D/DBA/23/0012  OM Kavishan</a:t>
            </a:r>
            <a:endParaRPr lang="en-US" sz="1050" dirty="0"/>
          </a:p>
        </p:txBody>
      </p:sp>
      <p:sp>
        <p:nvSpPr>
          <p:cNvPr id="23" name="Text 21"/>
          <p:cNvSpPr/>
          <p:nvPr/>
        </p:nvSpPr>
        <p:spPr>
          <a:xfrm>
            <a:off x="457200" y="4709160"/>
            <a:ext cx="8229600" cy="201168"/>
          </a:xfrm>
          <a:prstGeom prst="rect">
            <a:avLst/>
          </a:prstGeom>
          <a:noFill/>
          <a:ln/>
        </p:spPr>
        <p:txBody>
          <a:bodyPr wrap="square" rtlCol="0" anchor="ctr"/>
          <a:lstStyle/>
          <a:p>
            <a:pPr algn="ctr" indent="0" marL="0">
              <a:buNone/>
            </a:pPr>
            <a:r>
              <a:rPr lang="en-US" sz="1000" dirty="0">
                <a:solidFill>
                  <a:srgbClr val="3D5070"/>
                </a:solidFill>
                <a:latin typeface="Calibri" pitchFamily="34" charset="0"/>
                <a:ea typeface="Calibri" pitchFamily="34" charset="-122"/>
                <a:cs typeface="Calibri" pitchFamily="34" charset="-120"/>
              </a:rPr>
              <a:t>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Presentation Agenda</a:t>
            </a:r>
            <a:endParaRPr lang="en-US" sz="2200" dirty="0"/>
          </a:p>
        </p:txBody>
      </p:sp>
      <p:sp>
        <p:nvSpPr>
          <p:cNvPr id="4" name="Shape 2"/>
          <p:cNvSpPr/>
          <p:nvPr/>
        </p:nvSpPr>
        <p:spPr>
          <a:xfrm>
            <a:off x="274320" y="96012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274320" y="960120"/>
            <a:ext cx="64008" cy="877824"/>
          </a:xfrm>
          <a:prstGeom prst="rect">
            <a:avLst/>
          </a:prstGeom>
          <a:solidFill>
            <a:srgbClr val="1565C0"/>
          </a:solidFill>
          <a:ln w="12700">
            <a:solidFill>
              <a:srgbClr val="1565C0"/>
            </a:solidFill>
            <a:prstDash val="solid"/>
          </a:ln>
        </p:spPr>
      </p:sp>
      <p:sp>
        <p:nvSpPr>
          <p:cNvPr id="6" name="Text 4"/>
          <p:cNvSpPr/>
          <p:nvPr/>
        </p:nvSpPr>
        <p:spPr>
          <a:xfrm>
            <a:off x="411480" y="101498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01</a:t>
            </a:r>
            <a:endParaRPr lang="en-US" sz="2200" dirty="0"/>
          </a:p>
        </p:txBody>
      </p:sp>
      <p:sp>
        <p:nvSpPr>
          <p:cNvPr id="7" name="Text 5"/>
          <p:cNvSpPr/>
          <p:nvPr/>
        </p:nvSpPr>
        <p:spPr>
          <a:xfrm>
            <a:off x="411480" y="139903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The Problem &amp; Our Solution</a:t>
            </a:r>
            <a:endParaRPr lang="en-US" sz="1300" dirty="0"/>
          </a:p>
        </p:txBody>
      </p:sp>
      <p:sp>
        <p:nvSpPr>
          <p:cNvPr id="8" name="Text 6"/>
          <p:cNvSpPr/>
          <p:nvPr/>
        </p:nvSpPr>
        <p:spPr>
          <a:xfrm>
            <a:off x="411480" y="163677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Why manual attendance fails and what we built</a:t>
            </a:r>
            <a:endParaRPr lang="en-US" sz="950" dirty="0"/>
          </a:p>
        </p:txBody>
      </p:sp>
      <p:sp>
        <p:nvSpPr>
          <p:cNvPr id="9" name="Shape 7"/>
          <p:cNvSpPr/>
          <p:nvPr/>
        </p:nvSpPr>
        <p:spPr>
          <a:xfrm>
            <a:off x="274320" y="196596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0" name="Shape 8"/>
          <p:cNvSpPr/>
          <p:nvPr/>
        </p:nvSpPr>
        <p:spPr>
          <a:xfrm>
            <a:off x="274320" y="1965960"/>
            <a:ext cx="64008" cy="877824"/>
          </a:xfrm>
          <a:prstGeom prst="rect">
            <a:avLst/>
          </a:prstGeom>
          <a:solidFill>
            <a:srgbClr val="1565C0"/>
          </a:solidFill>
          <a:ln w="12700">
            <a:solidFill>
              <a:srgbClr val="1565C0"/>
            </a:solidFill>
            <a:prstDash val="solid"/>
          </a:ln>
        </p:spPr>
      </p:sp>
      <p:sp>
        <p:nvSpPr>
          <p:cNvPr id="11" name="Text 9"/>
          <p:cNvSpPr/>
          <p:nvPr/>
        </p:nvSpPr>
        <p:spPr>
          <a:xfrm>
            <a:off x="411480" y="202082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02</a:t>
            </a:r>
            <a:endParaRPr lang="en-US" sz="2200" dirty="0"/>
          </a:p>
        </p:txBody>
      </p:sp>
      <p:sp>
        <p:nvSpPr>
          <p:cNvPr id="12" name="Text 10"/>
          <p:cNvSpPr/>
          <p:nvPr/>
        </p:nvSpPr>
        <p:spPr>
          <a:xfrm>
            <a:off x="411480" y="240487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System Architecture</a:t>
            </a:r>
            <a:endParaRPr lang="en-US" sz="1300" dirty="0"/>
          </a:p>
        </p:txBody>
      </p:sp>
      <p:sp>
        <p:nvSpPr>
          <p:cNvPr id="13" name="Text 11"/>
          <p:cNvSpPr/>
          <p:nvPr/>
        </p:nvSpPr>
        <p:spPr>
          <a:xfrm>
            <a:off x="411480" y="264261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How registration and verification work</a:t>
            </a:r>
            <a:endParaRPr lang="en-US" sz="950" dirty="0"/>
          </a:p>
        </p:txBody>
      </p:sp>
      <p:sp>
        <p:nvSpPr>
          <p:cNvPr id="14" name="Shape 12"/>
          <p:cNvSpPr/>
          <p:nvPr/>
        </p:nvSpPr>
        <p:spPr>
          <a:xfrm>
            <a:off x="274320" y="297180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274320" y="2971800"/>
            <a:ext cx="64008" cy="877824"/>
          </a:xfrm>
          <a:prstGeom prst="rect">
            <a:avLst/>
          </a:prstGeom>
          <a:solidFill>
            <a:srgbClr val="1565C0"/>
          </a:solidFill>
          <a:ln w="12700">
            <a:solidFill>
              <a:srgbClr val="1565C0"/>
            </a:solidFill>
            <a:prstDash val="solid"/>
          </a:ln>
        </p:spPr>
      </p:sp>
      <p:sp>
        <p:nvSpPr>
          <p:cNvPr id="16" name="Text 14"/>
          <p:cNvSpPr/>
          <p:nvPr/>
        </p:nvSpPr>
        <p:spPr>
          <a:xfrm>
            <a:off x="411480" y="302666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03</a:t>
            </a:r>
            <a:endParaRPr lang="en-US" sz="2200" dirty="0"/>
          </a:p>
        </p:txBody>
      </p:sp>
      <p:sp>
        <p:nvSpPr>
          <p:cNvPr id="17" name="Text 15"/>
          <p:cNvSpPr/>
          <p:nvPr/>
        </p:nvSpPr>
        <p:spPr>
          <a:xfrm>
            <a:off x="411480" y="341071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Image Preprocessing Pipeline</a:t>
            </a:r>
            <a:endParaRPr lang="en-US" sz="1300" dirty="0"/>
          </a:p>
        </p:txBody>
      </p:sp>
      <p:sp>
        <p:nvSpPr>
          <p:cNvPr id="18" name="Text 16"/>
          <p:cNvSpPr/>
          <p:nvPr/>
        </p:nvSpPr>
        <p:spPr>
          <a:xfrm>
            <a:off x="411480" y="364845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All 11 steps — the core of our project</a:t>
            </a:r>
            <a:endParaRPr lang="en-US" sz="950" dirty="0"/>
          </a:p>
        </p:txBody>
      </p:sp>
      <p:sp>
        <p:nvSpPr>
          <p:cNvPr id="19" name="Shape 17"/>
          <p:cNvSpPr/>
          <p:nvPr/>
        </p:nvSpPr>
        <p:spPr>
          <a:xfrm>
            <a:off x="274320" y="397764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274320" y="3977640"/>
            <a:ext cx="64008" cy="877824"/>
          </a:xfrm>
          <a:prstGeom prst="rect">
            <a:avLst/>
          </a:prstGeom>
          <a:solidFill>
            <a:srgbClr val="1565C0"/>
          </a:solidFill>
          <a:ln w="12700">
            <a:solidFill>
              <a:srgbClr val="1565C0"/>
            </a:solidFill>
            <a:prstDash val="solid"/>
          </a:ln>
        </p:spPr>
      </p:sp>
      <p:sp>
        <p:nvSpPr>
          <p:cNvPr id="21" name="Text 19"/>
          <p:cNvSpPr/>
          <p:nvPr/>
        </p:nvSpPr>
        <p:spPr>
          <a:xfrm>
            <a:off x="411480" y="403250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04</a:t>
            </a:r>
            <a:endParaRPr lang="en-US" sz="2200" dirty="0"/>
          </a:p>
        </p:txBody>
      </p:sp>
      <p:sp>
        <p:nvSpPr>
          <p:cNvPr id="22" name="Text 20"/>
          <p:cNvSpPr/>
          <p:nvPr/>
        </p:nvSpPr>
        <p:spPr>
          <a:xfrm>
            <a:off x="411480" y="441655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Face Detection — HOG</a:t>
            </a:r>
            <a:endParaRPr lang="en-US" sz="1300" dirty="0"/>
          </a:p>
        </p:txBody>
      </p:sp>
      <p:sp>
        <p:nvSpPr>
          <p:cNvPr id="23" name="Text 21"/>
          <p:cNvSpPr/>
          <p:nvPr/>
        </p:nvSpPr>
        <p:spPr>
          <a:xfrm>
            <a:off x="411480" y="465429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How the system finds the face</a:t>
            </a:r>
            <a:endParaRPr lang="en-US" sz="950" dirty="0"/>
          </a:p>
        </p:txBody>
      </p:sp>
      <p:sp>
        <p:nvSpPr>
          <p:cNvPr id="24" name="Shape 22"/>
          <p:cNvSpPr/>
          <p:nvPr/>
        </p:nvSpPr>
        <p:spPr>
          <a:xfrm>
            <a:off x="4754880" y="96012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5" name="Shape 23"/>
          <p:cNvSpPr/>
          <p:nvPr/>
        </p:nvSpPr>
        <p:spPr>
          <a:xfrm>
            <a:off x="4754880" y="960120"/>
            <a:ext cx="64008" cy="877824"/>
          </a:xfrm>
          <a:prstGeom prst="rect">
            <a:avLst/>
          </a:prstGeom>
          <a:solidFill>
            <a:srgbClr val="1565C0"/>
          </a:solidFill>
          <a:ln w="12700">
            <a:solidFill>
              <a:srgbClr val="1565C0"/>
            </a:solidFill>
            <a:prstDash val="solid"/>
          </a:ln>
        </p:spPr>
      </p:sp>
      <p:sp>
        <p:nvSpPr>
          <p:cNvPr id="26" name="Text 24"/>
          <p:cNvSpPr/>
          <p:nvPr/>
        </p:nvSpPr>
        <p:spPr>
          <a:xfrm>
            <a:off x="4892040" y="101498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05</a:t>
            </a:r>
            <a:endParaRPr lang="en-US" sz="2200" dirty="0"/>
          </a:p>
        </p:txBody>
      </p:sp>
      <p:sp>
        <p:nvSpPr>
          <p:cNvPr id="27" name="Text 25"/>
          <p:cNvSpPr/>
          <p:nvPr/>
        </p:nvSpPr>
        <p:spPr>
          <a:xfrm>
            <a:off x="4892040" y="139903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Face Recognition — ResNet-34</a:t>
            </a:r>
            <a:endParaRPr lang="en-US" sz="1300" dirty="0"/>
          </a:p>
        </p:txBody>
      </p:sp>
      <p:sp>
        <p:nvSpPr>
          <p:cNvPr id="28" name="Text 26"/>
          <p:cNvSpPr/>
          <p:nvPr/>
        </p:nvSpPr>
        <p:spPr>
          <a:xfrm>
            <a:off x="4892040" y="163677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How the system identifies who the face belongs to</a:t>
            </a:r>
            <a:endParaRPr lang="en-US" sz="950" dirty="0"/>
          </a:p>
        </p:txBody>
      </p:sp>
      <p:sp>
        <p:nvSpPr>
          <p:cNvPr id="29" name="Shape 27"/>
          <p:cNvSpPr/>
          <p:nvPr/>
        </p:nvSpPr>
        <p:spPr>
          <a:xfrm>
            <a:off x="4754880" y="196596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30" name="Shape 28"/>
          <p:cNvSpPr/>
          <p:nvPr/>
        </p:nvSpPr>
        <p:spPr>
          <a:xfrm>
            <a:off x="4754880" y="1965960"/>
            <a:ext cx="64008" cy="877824"/>
          </a:xfrm>
          <a:prstGeom prst="rect">
            <a:avLst/>
          </a:prstGeom>
          <a:solidFill>
            <a:srgbClr val="1565C0"/>
          </a:solidFill>
          <a:ln w="12700">
            <a:solidFill>
              <a:srgbClr val="1565C0"/>
            </a:solidFill>
            <a:prstDash val="solid"/>
          </a:ln>
        </p:spPr>
      </p:sp>
      <p:sp>
        <p:nvSpPr>
          <p:cNvPr id="31" name="Text 29"/>
          <p:cNvSpPr/>
          <p:nvPr/>
        </p:nvSpPr>
        <p:spPr>
          <a:xfrm>
            <a:off x="4892040" y="202082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06</a:t>
            </a:r>
            <a:endParaRPr lang="en-US" sz="2200" dirty="0"/>
          </a:p>
        </p:txBody>
      </p:sp>
      <p:sp>
        <p:nvSpPr>
          <p:cNvPr id="32" name="Text 30"/>
          <p:cNvSpPr/>
          <p:nvPr/>
        </p:nvSpPr>
        <p:spPr>
          <a:xfrm>
            <a:off x="4892040" y="240487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Code &amp; Database</a:t>
            </a:r>
            <a:endParaRPr lang="en-US" sz="1300" dirty="0"/>
          </a:p>
        </p:txBody>
      </p:sp>
      <p:sp>
        <p:nvSpPr>
          <p:cNvPr id="33" name="Text 31"/>
          <p:cNvSpPr/>
          <p:nvPr/>
        </p:nvSpPr>
        <p:spPr>
          <a:xfrm>
            <a:off x="4892040" y="264261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Key functions and MongoDB attendance logging</a:t>
            </a:r>
            <a:endParaRPr lang="en-US" sz="950" dirty="0"/>
          </a:p>
        </p:txBody>
      </p:sp>
      <p:sp>
        <p:nvSpPr>
          <p:cNvPr id="34" name="Shape 32"/>
          <p:cNvSpPr/>
          <p:nvPr/>
        </p:nvSpPr>
        <p:spPr>
          <a:xfrm>
            <a:off x="4754880" y="2971800"/>
            <a:ext cx="4160520" cy="877824"/>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35" name="Shape 33"/>
          <p:cNvSpPr/>
          <p:nvPr/>
        </p:nvSpPr>
        <p:spPr>
          <a:xfrm>
            <a:off x="4754880" y="2971800"/>
            <a:ext cx="64008" cy="877824"/>
          </a:xfrm>
          <a:prstGeom prst="rect">
            <a:avLst/>
          </a:prstGeom>
          <a:solidFill>
            <a:srgbClr val="1565C0"/>
          </a:solidFill>
          <a:ln w="12700">
            <a:solidFill>
              <a:srgbClr val="1565C0"/>
            </a:solidFill>
            <a:prstDash val="solid"/>
          </a:ln>
        </p:spPr>
      </p:sp>
      <p:sp>
        <p:nvSpPr>
          <p:cNvPr id="36" name="Text 34"/>
          <p:cNvSpPr/>
          <p:nvPr/>
        </p:nvSpPr>
        <p:spPr>
          <a:xfrm>
            <a:off x="4892040" y="3026664"/>
            <a:ext cx="502920" cy="411480"/>
          </a:xfrm>
          <a:prstGeom prst="rect">
            <a:avLst/>
          </a:prstGeom>
          <a:noFill/>
          <a:ln/>
        </p:spPr>
        <p:txBody>
          <a:bodyPr wrap="square" rtlCol="0" anchor="ctr"/>
          <a:lstStyle/>
          <a:p>
            <a:pPr indent="0" marL="0">
              <a:buNone/>
            </a:pPr>
            <a:r>
              <a:rPr lang="en-US" sz="2200" b="1" dirty="0">
                <a:solidFill>
                  <a:srgbClr val="00BCD4"/>
                </a:solidFill>
                <a:latin typeface="Calibri" pitchFamily="34" charset="0"/>
                <a:ea typeface="Calibri" pitchFamily="34" charset="-122"/>
                <a:cs typeface="Calibri" pitchFamily="34" charset="-120"/>
              </a:rPr>
              <a:t>07</a:t>
            </a:r>
            <a:endParaRPr lang="en-US" sz="2200" dirty="0"/>
          </a:p>
        </p:txBody>
      </p:sp>
      <p:sp>
        <p:nvSpPr>
          <p:cNvPr id="37" name="Text 35"/>
          <p:cNvSpPr/>
          <p:nvPr/>
        </p:nvSpPr>
        <p:spPr>
          <a:xfrm>
            <a:off x="4892040" y="3410712"/>
            <a:ext cx="384048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Progress &amp; Future Work</a:t>
            </a:r>
            <a:endParaRPr lang="en-US" sz="1300" dirty="0"/>
          </a:p>
        </p:txBody>
      </p:sp>
      <p:sp>
        <p:nvSpPr>
          <p:cNvPr id="38" name="Text 36"/>
          <p:cNvSpPr/>
          <p:nvPr/>
        </p:nvSpPr>
        <p:spPr>
          <a:xfrm>
            <a:off x="4892040" y="3648456"/>
            <a:ext cx="3840480" cy="18288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What is done and what comes next</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01  The Problem &amp; Our Solution</a:t>
            </a:r>
            <a:endParaRPr lang="en-US" sz="2200" dirty="0"/>
          </a:p>
        </p:txBody>
      </p:sp>
      <p:sp>
        <p:nvSpPr>
          <p:cNvPr id="4" name="Shape 2"/>
          <p:cNvSpPr/>
          <p:nvPr/>
        </p:nvSpPr>
        <p:spPr>
          <a:xfrm>
            <a:off x="274320" y="960120"/>
            <a:ext cx="3977640" cy="3840480"/>
          </a:xfrm>
          <a:prstGeom prst="rect">
            <a:avLst/>
          </a:prstGeom>
          <a:solidFill>
            <a:srgbClr val="FFF8F5"/>
          </a:solidFill>
          <a:ln w="15240">
            <a:solidFill>
              <a:srgbClr val="FFCCBC"/>
            </a:solidFill>
            <a:prstDash val="solid"/>
          </a:ln>
        </p:spPr>
      </p:sp>
      <p:sp>
        <p:nvSpPr>
          <p:cNvPr id="5" name="Shape 3"/>
          <p:cNvSpPr/>
          <p:nvPr/>
        </p:nvSpPr>
        <p:spPr>
          <a:xfrm>
            <a:off x="274320" y="960120"/>
            <a:ext cx="3977640" cy="384048"/>
          </a:xfrm>
          <a:prstGeom prst="rect">
            <a:avLst/>
          </a:prstGeom>
          <a:solidFill>
            <a:srgbClr val="E65100"/>
          </a:solidFill>
          <a:ln w="12700">
            <a:solidFill>
              <a:srgbClr val="E65100"/>
            </a:solidFill>
            <a:prstDash val="solid"/>
          </a:ln>
        </p:spPr>
      </p:sp>
      <p:sp>
        <p:nvSpPr>
          <p:cNvPr id="6" name="Text 4"/>
          <p:cNvSpPr/>
          <p:nvPr/>
        </p:nvSpPr>
        <p:spPr>
          <a:xfrm>
            <a:off x="347472" y="978408"/>
            <a:ext cx="384048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PROBLEM</a:t>
            </a:r>
            <a:endParaRPr lang="en-US" sz="1300" dirty="0"/>
          </a:p>
        </p:txBody>
      </p:sp>
      <p:sp>
        <p:nvSpPr>
          <p:cNvPr id="7" name="Shape 5"/>
          <p:cNvSpPr/>
          <p:nvPr/>
        </p:nvSpPr>
        <p:spPr>
          <a:xfrm>
            <a:off x="438912" y="1490472"/>
            <a:ext cx="146304" cy="146304"/>
          </a:xfrm>
          <a:prstGeom prst="rect">
            <a:avLst/>
          </a:prstGeom>
          <a:solidFill>
            <a:srgbClr val="E65100"/>
          </a:solidFill>
          <a:ln w="12700">
            <a:solidFill>
              <a:srgbClr val="E65100"/>
            </a:solidFill>
            <a:prstDash val="solid"/>
          </a:ln>
        </p:spPr>
      </p:sp>
      <p:sp>
        <p:nvSpPr>
          <p:cNvPr id="8" name="Text 6"/>
          <p:cNvSpPr/>
          <p:nvPr/>
        </p:nvSpPr>
        <p:spPr>
          <a:xfrm>
            <a:off x="658368" y="1426464"/>
            <a:ext cx="342900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Roll calls interrupt lectures and waste time</a:t>
            </a:r>
            <a:endParaRPr lang="en-US" sz="1100" dirty="0"/>
          </a:p>
        </p:txBody>
      </p:sp>
      <p:sp>
        <p:nvSpPr>
          <p:cNvPr id="9" name="Shape 7"/>
          <p:cNvSpPr/>
          <p:nvPr/>
        </p:nvSpPr>
        <p:spPr>
          <a:xfrm>
            <a:off x="438912" y="1965960"/>
            <a:ext cx="146304" cy="146304"/>
          </a:xfrm>
          <a:prstGeom prst="rect">
            <a:avLst/>
          </a:prstGeom>
          <a:solidFill>
            <a:srgbClr val="E65100"/>
          </a:solidFill>
          <a:ln w="12700">
            <a:solidFill>
              <a:srgbClr val="E65100"/>
            </a:solidFill>
            <a:prstDash val="solid"/>
          </a:ln>
        </p:spPr>
      </p:sp>
      <p:sp>
        <p:nvSpPr>
          <p:cNvPr id="10" name="Text 8"/>
          <p:cNvSpPr/>
          <p:nvPr/>
        </p:nvSpPr>
        <p:spPr>
          <a:xfrm>
            <a:off x="658368" y="1901952"/>
            <a:ext cx="342900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Paper sheets are easy to fake — sign for absent friends</a:t>
            </a:r>
            <a:endParaRPr lang="en-US" sz="1100" dirty="0"/>
          </a:p>
        </p:txBody>
      </p:sp>
      <p:sp>
        <p:nvSpPr>
          <p:cNvPr id="11" name="Shape 9"/>
          <p:cNvSpPr/>
          <p:nvPr/>
        </p:nvSpPr>
        <p:spPr>
          <a:xfrm>
            <a:off x="438912" y="2441448"/>
            <a:ext cx="146304" cy="146304"/>
          </a:xfrm>
          <a:prstGeom prst="rect">
            <a:avLst/>
          </a:prstGeom>
          <a:solidFill>
            <a:srgbClr val="E65100"/>
          </a:solidFill>
          <a:ln w="12700">
            <a:solidFill>
              <a:srgbClr val="E65100"/>
            </a:solidFill>
            <a:prstDash val="solid"/>
          </a:ln>
        </p:spPr>
      </p:sp>
      <p:sp>
        <p:nvSpPr>
          <p:cNvPr id="12" name="Text 10"/>
          <p:cNvSpPr/>
          <p:nvPr/>
        </p:nvSpPr>
        <p:spPr>
          <a:xfrm>
            <a:off x="658368" y="2377440"/>
            <a:ext cx="342900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Data entry errors — wrong names, missing rows</a:t>
            </a:r>
            <a:endParaRPr lang="en-US" sz="1100" dirty="0"/>
          </a:p>
        </p:txBody>
      </p:sp>
      <p:sp>
        <p:nvSpPr>
          <p:cNvPr id="13" name="Shape 11"/>
          <p:cNvSpPr/>
          <p:nvPr/>
        </p:nvSpPr>
        <p:spPr>
          <a:xfrm>
            <a:off x="438912" y="2916936"/>
            <a:ext cx="146304" cy="146304"/>
          </a:xfrm>
          <a:prstGeom prst="rect">
            <a:avLst/>
          </a:prstGeom>
          <a:solidFill>
            <a:srgbClr val="E65100"/>
          </a:solidFill>
          <a:ln w="12700">
            <a:solidFill>
              <a:srgbClr val="E65100"/>
            </a:solidFill>
            <a:prstDash val="solid"/>
          </a:ln>
        </p:spPr>
      </p:sp>
      <p:sp>
        <p:nvSpPr>
          <p:cNvPr id="14" name="Text 12"/>
          <p:cNvSpPr/>
          <p:nvPr/>
        </p:nvSpPr>
        <p:spPr>
          <a:xfrm>
            <a:off x="658368" y="2852928"/>
            <a:ext cx="342900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No real-time view — lecturers can't check instantly</a:t>
            </a:r>
            <a:endParaRPr lang="en-US" sz="1100" dirty="0"/>
          </a:p>
        </p:txBody>
      </p:sp>
      <p:sp>
        <p:nvSpPr>
          <p:cNvPr id="15" name="Shape 13"/>
          <p:cNvSpPr/>
          <p:nvPr/>
        </p:nvSpPr>
        <p:spPr>
          <a:xfrm>
            <a:off x="438912" y="3392424"/>
            <a:ext cx="146304" cy="146304"/>
          </a:xfrm>
          <a:prstGeom prst="rect">
            <a:avLst/>
          </a:prstGeom>
          <a:solidFill>
            <a:srgbClr val="E65100"/>
          </a:solidFill>
          <a:ln w="12700">
            <a:solidFill>
              <a:srgbClr val="E65100"/>
            </a:solidFill>
            <a:prstDash val="solid"/>
          </a:ln>
        </p:spPr>
      </p:sp>
      <p:sp>
        <p:nvSpPr>
          <p:cNvPr id="16" name="Text 14"/>
          <p:cNvSpPr/>
          <p:nvPr/>
        </p:nvSpPr>
        <p:spPr>
          <a:xfrm>
            <a:off x="658368" y="3328416"/>
            <a:ext cx="342900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Duplicate entries are common on paper</a:t>
            </a:r>
            <a:endParaRPr lang="en-US" sz="1100" dirty="0"/>
          </a:p>
        </p:txBody>
      </p:sp>
      <p:sp>
        <p:nvSpPr>
          <p:cNvPr id="17" name="Shape 15"/>
          <p:cNvSpPr/>
          <p:nvPr/>
        </p:nvSpPr>
        <p:spPr>
          <a:xfrm>
            <a:off x="4572000" y="960120"/>
            <a:ext cx="4297680" cy="3840480"/>
          </a:xfrm>
          <a:prstGeom prst="rect">
            <a:avLst/>
          </a:prstGeom>
          <a:solidFill>
            <a:srgbClr val="E8F5E9"/>
          </a:solidFill>
          <a:ln w="15240">
            <a:solidFill>
              <a:srgbClr val="A5D6A7"/>
            </a:solidFill>
            <a:prstDash val="solid"/>
          </a:ln>
        </p:spPr>
      </p:sp>
      <p:sp>
        <p:nvSpPr>
          <p:cNvPr id="18" name="Shape 16"/>
          <p:cNvSpPr/>
          <p:nvPr/>
        </p:nvSpPr>
        <p:spPr>
          <a:xfrm>
            <a:off x="4572000" y="960120"/>
            <a:ext cx="4297680" cy="384048"/>
          </a:xfrm>
          <a:prstGeom prst="rect">
            <a:avLst/>
          </a:prstGeom>
          <a:solidFill>
            <a:srgbClr val="2E7D32"/>
          </a:solidFill>
          <a:ln w="12700">
            <a:solidFill>
              <a:srgbClr val="2E7D32"/>
            </a:solidFill>
            <a:prstDash val="solid"/>
          </a:ln>
        </p:spPr>
      </p:sp>
      <p:sp>
        <p:nvSpPr>
          <p:cNvPr id="19" name="Text 17"/>
          <p:cNvSpPr/>
          <p:nvPr/>
        </p:nvSpPr>
        <p:spPr>
          <a:xfrm>
            <a:off x="4645152" y="978408"/>
            <a:ext cx="416052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OUR SOLUTION</a:t>
            </a:r>
            <a:endParaRPr lang="en-US" sz="1300" dirty="0"/>
          </a:p>
        </p:txBody>
      </p:sp>
      <p:sp>
        <p:nvSpPr>
          <p:cNvPr id="20" name="Shape 18"/>
          <p:cNvSpPr/>
          <p:nvPr/>
        </p:nvSpPr>
        <p:spPr>
          <a:xfrm>
            <a:off x="4736592" y="1490472"/>
            <a:ext cx="146304" cy="146304"/>
          </a:xfrm>
          <a:prstGeom prst="rect">
            <a:avLst/>
          </a:prstGeom>
          <a:solidFill>
            <a:srgbClr val="2E7D32"/>
          </a:solidFill>
          <a:ln w="12700">
            <a:solidFill>
              <a:srgbClr val="2E7D32"/>
            </a:solidFill>
            <a:prstDash val="solid"/>
          </a:ln>
        </p:spPr>
      </p:sp>
      <p:sp>
        <p:nvSpPr>
          <p:cNvPr id="21" name="Text 19"/>
          <p:cNvSpPr/>
          <p:nvPr/>
        </p:nvSpPr>
        <p:spPr>
          <a:xfrm>
            <a:off x="4956048" y="1426464"/>
            <a:ext cx="374904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Camera watches the room — fully automatic</a:t>
            </a:r>
            <a:endParaRPr lang="en-US" sz="1100" dirty="0"/>
          </a:p>
        </p:txBody>
      </p:sp>
      <p:sp>
        <p:nvSpPr>
          <p:cNvPr id="22" name="Shape 20"/>
          <p:cNvSpPr/>
          <p:nvPr/>
        </p:nvSpPr>
        <p:spPr>
          <a:xfrm>
            <a:off x="4736592" y="1965960"/>
            <a:ext cx="146304" cy="146304"/>
          </a:xfrm>
          <a:prstGeom prst="rect">
            <a:avLst/>
          </a:prstGeom>
          <a:solidFill>
            <a:srgbClr val="2E7D32"/>
          </a:solidFill>
          <a:ln w="12700">
            <a:solidFill>
              <a:srgbClr val="2E7D32"/>
            </a:solidFill>
            <a:prstDash val="solid"/>
          </a:ln>
        </p:spPr>
      </p:sp>
      <p:sp>
        <p:nvSpPr>
          <p:cNvPr id="23" name="Text 21"/>
          <p:cNvSpPr/>
          <p:nvPr/>
        </p:nvSpPr>
        <p:spPr>
          <a:xfrm>
            <a:off x="4956048" y="1901952"/>
            <a:ext cx="374904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Face biometrics can't be faked with a name</a:t>
            </a:r>
            <a:endParaRPr lang="en-US" sz="1100" dirty="0"/>
          </a:p>
        </p:txBody>
      </p:sp>
      <p:sp>
        <p:nvSpPr>
          <p:cNvPr id="24" name="Shape 22"/>
          <p:cNvSpPr/>
          <p:nvPr/>
        </p:nvSpPr>
        <p:spPr>
          <a:xfrm>
            <a:off x="4736592" y="2441448"/>
            <a:ext cx="146304" cy="146304"/>
          </a:xfrm>
          <a:prstGeom prst="rect">
            <a:avLst/>
          </a:prstGeom>
          <a:solidFill>
            <a:srgbClr val="2E7D32"/>
          </a:solidFill>
          <a:ln w="12700">
            <a:solidFill>
              <a:srgbClr val="2E7D32"/>
            </a:solidFill>
            <a:prstDash val="solid"/>
          </a:ln>
        </p:spPr>
      </p:sp>
      <p:sp>
        <p:nvSpPr>
          <p:cNvPr id="25" name="Text 23"/>
          <p:cNvSpPr/>
          <p:nvPr/>
        </p:nvSpPr>
        <p:spPr>
          <a:xfrm>
            <a:off x="4956048" y="2377440"/>
            <a:ext cx="374904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Direct database insert — zero human errors</a:t>
            </a:r>
            <a:endParaRPr lang="en-US" sz="1100" dirty="0"/>
          </a:p>
        </p:txBody>
      </p:sp>
      <p:sp>
        <p:nvSpPr>
          <p:cNvPr id="26" name="Shape 24"/>
          <p:cNvSpPr/>
          <p:nvPr/>
        </p:nvSpPr>
        <p:spPr>
          <a:xfrm>
            <a:off x="4736592" y="2916936"/>
            <a:ext cx="146304" cy="146304"/>
          </a:xfrm>
          <a:prstGeom prst="rect">
            <a:avLst/>
          </a:prstGeom>
          <a:solidFill>
            <a:srgbClr val="2E7D32"/>
          </a:solidFill>
          <a:ln w="12700">
            <a:solidFill>
              <a:srgbClr val="2E7D32"/>
            </a:solidFill>
            <a:prstDash val="solid"/>
          </a:ln>
        </p:spPr>
      </p:sp>
      <p:sp>
        <p:nvSpPr>
          <p:cNvPr id="27" name="Text 25"/>
          <p:cNvSpPr/>
          <p:nvPr/>
        </p:nvSpPr>
        <p:spPr>
          <a:xfrm>
            <a:off x="4956048" y="2852928"/>
            <a:ext cx="374904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Instant MongoDB logging — check anytime</a:t>
            </a:r>
            <a:endParaRPr lang="en-US" sz="1100" dirty="0"/>
          </a:p>
        </p:txBody>
      </p:sp>
      <p:sp>
        <p:nvSpPr>
          <p:cNvPr id="28" name="Shape 26"/>
          <p:cNvSpPr/>
          <p:nvPr/>
        </p:nvSpPr>
        <p:spPr>
          <a:xfrm>
            <a:off x="4736592" y="3392424"/>
            <a:ext cx="146304" cy="146304"/>
          </a:xfrm>
          <a:prstGeom prst="rect">
            <a:avLst/>
          </a:prstGeom>
          <a:solidFill>
            <a:srgbClr val="2E7D32"/>
          </a:solidFill>
          <a:ln w="12700">
            <a:solidFill>
              <a:srgbClr val="2E7D32"/>
            </a:solidFill>
            <a:prstDash val="solid"/>
          </a:ln>
        </p:spPr>
      </p:sp>
      <p:sp>
        <p:nvSpPr>
          <p:cNvPr id="29" name="Text 27"/>
          <p:cNvSpPr/>
          <p:nvPr/>
        </p:nvSpPr>
        <p:spPr>
          <a:xfrm>
            <a:off x="4956048" y="3328416"/>
            <a:ext cx="3749040" cy="292608"/>
          </a:xfrm>
          <a:prstGeom prst="rect">
            <a:avLst/>
          </a:prstGeom>
          <a:noFill/>
          <a:ln/>
        </p:spPr>
        <p:txBody>
          <a:bodyPr wrap="square" rtlCol="0" anchor="ctr"/>
          <a:lstStyle/>
          <a:p>
            <a:pPr indent="0" marL="0">
              <a:buNone/>
            </a:pPr>
            <a:r>
              <a:rPr lang="en-US" sz="1100" dirty="0">
                <a:solidFill>
                  <a:srgbClr val="263238"/>
                </a:solidFill>
                <a:latin typeface="Calibri" pitchFamily="34" charset="0"/>
                <a:ea typeface="Calibri" pitchFamily="34" charset="-122"/>
                <a:cs typeface="Calibri" pitchFamily="34" charset="-120"/>
              </a:rPr>
              <a:t>60-second duplicate prevention built in</a:t>
            </a:r>
            <a:endParaRPr lang="en-US" sz="1100" dirty="0"/>
          </a:p>
        </p:txBody>
      </p:sp>
      <p:sp>
        <p:nvSpPr>
          <p:cNvPr id="30" name="Shape 28"/>
          <p:cNvSpPr/>
          <p:nvPr/>
        </p:nvSpPr>
        <p:spPr>
          <a:xfrm>
            <a:off x="274320" y="4864608"/>
            <a:ext cx="8595360" cy="347472"/>
          </a:xfrm>
          <a:prstGeom prst="rect">
            <a:avLst/>
          </a:prstGeom>
          <a:solidFill>
            <a:srgbClr val="0B1F45"/>
          </a:solidFill>
          <a:ln w="12700">
            <a:solidFill>
              <a:srgbClr val="0B1F45"/>
            </a:solidFill>
            <a:prstDash val="solid"/>
          </a:ln>
        </p:spPr>
      </p:sp>
      <p:sp>
        <p:nvSpPr>
          <p:cNvPr id="31" name="Text 29"/>
          <p:cNvSpPr/>
          <p:nvPr/>
        </p:nvSpPr>
        <p:spPr>
          <a:xfrm>
            <a:off x="365760" y="4882896"/>
            <a:ext cx="8412480" cy="310896"/>
          </a:xfrm>
          <a:prstGeom prst="rect">
            <a:avLst/>
          </a:prstGeom>
          <a:noFill/>
          <a:ln/>
        </p:spPr>
        <p:txBody>
          <a:bodyPr wrap="square" rtlCol="0" anchor="ctr"/>
          <a:lstStyle/>
          <a:p>
            <a:pPr algn="ctr" indent="0" marL="0">
              <a:buNone/>
            </a:pPr>
            <a:r>
              <a:rPr lang="en-US" sz="1200" b="1" i="1" dirty="0">
                <a:solidFill>
                  <a:srgbClr val="00BCD4"/>
                </a:solidFill>
                <a:latin typeface="Calibri" pitchFamily="34" charset="0"/>
                <a:ea typeface="Calibri" pitchFamily="34" charset="-122"/>
                <a:cs typeface="Calibri" pitchFamily="34" charset="-120"/>
              </a:rPr>
              <a:t>"A camera watches the door, recognises each face using AI, and writes attendance to a database — automatically."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02  System Architecture — Two Modes</a:t>
            </a:r>
            <a:endParaRPr lang="en-US" sz="2200" dirty="0"/>
          </a:p>
        </p:txBody>
      </p:sp>
      <p:sp>
        <p:nvSpPr>
          <p:cNvPr id="4" name="Shape 2"/>
          <p:cNvSpPr/>
          <p:nvPr/>
        </p:nvSpPr>
        <p:spPr>
          <a:xfrm>
            <a:off x="274320" y="960120"/>
            <a:ext cx="3931920" cy="2743200"/>
          </a:xfrm>
          <a:prstGeom prst="rect">
            <a:avLst/>
          </a:prstGeom>
          <a:solidFill>
            <a:srgbClr val="E3EEF9"/>
          </a:solidFill>
          <a:ln w="15240">
            <a:solidFill>
              <a:srgbClr val="90CAF9"/>
            </a:solidFill>
            <a:prstDash val="solid"/>
          </a:ln>
        </p:spPr>
      </p:sp>
      <p:sp>
        <p:nvSpPr>
          <p:cNvPr id="5" name="Shape 3"/>
          <p:cNvSpPr/>
          <p:nvPr/>
        </p:nvSpPr>
        <p:spPr>
          <a:xfrm>
            <a:off x="274320" y="960120"/>
            <a:ext cx="3931920" cy="347472"/>
          </a:xfrm>
          <a:prstGeom prst="rect">
            <a:avLst/>
          </a:prstGeom>
          <a:solidFill>
            <a:srgbClr val="1565C0"/>
          </a:solidFill>
          <a:ln w="12700">
            <a:solidFill>
              <a:srgbClr val="1565C0"/>
            </a:solidFill>
            <a:prstDash val="solid"/>
          </a:ln>
        </p:spPr>
      </p:sp>
      <p:sp>
        <p:nvSpPr>
          <p:cNvPr id="6" name="Text 4"/>
          <p:cNvSpPr/>
          <p:nvPr/>
        </p:nvSpPr>
        <p:spPr>
          <a:xfrm>
            <a:off x="347472" y="978408"/>
            <a:ext cx="3794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REGISTRATION MODE</a:t>
            </a:r>
            <a:endParaRPr lang="en-US" sz="1200" dirty="0"/>
          </a:p>
        </p:txBody>
      </p:sp>
      <p:sp>
        <p:nvSpPr>
          <p:cNvPr id="7" name="Shape 5"/>
          <p:cNvSpPr/>
          <p:nvPr/>
        </p:nvSpPr>
        <p:spPr>
          <a:xfrm>
            <a:off x="429768" y="1453896"/>
            <a:ext cx="128016" cy="128016"/>
          </a:xfrm>
          <a:prstGeom prst="rect">
            <a:avLst/>
          </a:prstGeom>
          <a:solidFill>
            <a:srgbClr val="1565C0"/>
          </a:solidFill>
          <a:ln w="12700">
            <a:solidFill>
              <a:srgbClr val="1565C0"/>
            </a:solidFill>
            <a:prstDash val="solid"/>
          </a:ln>
        </p:spPr>
      </p:sp>
      <p:sp>
        <p:nvSpPr>
          <p:cNvPr id="8" name="Text 6"/>
          <p:cNvSpPr/>
          <p:nvPr/>
        </p:nvSpPr>
        <p:spPr>
          <a:xfrm>
            <a:off x="640080" y="1389888"/>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Admin logs in to the web app</a:t>
            </a:r>
            <a:endParaRPr lang="en-US" sz="1050" dirty="0"/>
          </a:p>
        </p:txBody>
      </p:sp>
      <p:sp>
        <p:nvSpPr>
          <p:cNvPr id="9" name="Shape 7"/>
          <p:cNvSpPr/>
          <p:nvPr/>
        </p:nvSpPr>
        <p:spPr>
          <a:xfrm>
            <a:off x="429768" y="1837944"/>
            <a:ext cx="128016" cy="128016"/>
          </a:xfrm>
          <a:prstGeom prst="rect">
            <a:avLst/>
          </a:prstGeom>
          <a:solidFill>
            <a:srgbClr val="1565C0"/>
          </a:solidFill>
          <a:ln w="12700">
            <a:solidFill>
              <a:srgbClr val="1565C0"/>
            </a:solidFill>
            <a:prstDash val="solid"/>
          </a:ln>
        </p:spPr>
      </p:sp>
      <p:sp>
        <p:nvSpPr>
          <p:cNvPr id="10" name="Text 8"/>
          <p:cNvSpPr/>
          <p:nvPr/>
        </p:nvSpPr>
        <p:spPr>
          <a:xfrm>
            <a:off x="640080" y="1773936"/>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Live camera preview shows on screen</a:t>
            </a:r>
            <a:endParaRPr lang="en-US" sz="1050" dirty="0"/>
          </a:p>
        </p:txBody>
      </p:sp>
      <p:sp>
        <p:nvSpPr>
          <p:cNvPr id="11" name="Shape 9"/>
          <p:cNvSpPr/>
          <p:nvPr/>
        </p:nvSpPr>
        <p:spPr>
          <a:xfrm>
            <a:off x="429768" y="2221992"/>
            <a:ext cx="128016" cy="128016"/>
          </a:xfrm>
          <a:prstGeom prst="rect">
            <a:avLst/>
          </a:prstGeom>
          <a:solidFill>
            <a:srgbClr val="1565C0"/>
          </a:solidFill>
          <a:ln w="12700">
            <a:solidFill>
              <a:srgbClr val="1565C0"/>
            </a:solidFill>
            <a:prstDash val="solid"/>
          </a:ln>
        </p:spPr>
      </p:sp>
      <p:sp>
        <p:nvSpPr>
          <p:cNvPr id="12" name="Text 10"/>
          <p:cNvSpPr/>
          <p:nvPr/>
        </p:nvSpPr>
        <p:spPr>
          <a:xfrm>
            <a:off x="640080" y="2157984"/>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Admin clicks capture → photo saved</a:t>
            </a:r>
            <a:endParaRPr lang="en-US" sz="1050" dirty="0"/>
          </a:p>
        </p:txBody>
      </p:sp>
      <p:sp>
        <p:nvSpPr>
          <p:cNvPr id="13" name="Shape 11"/>
          <p:cNvSpPr/>
          <p:nvPr/>
        </p:nvSpPr>
        <p:spPr>
          <a:xfrm>
            <a:off x="429768" y="2606040"/>
            <a:ext cx="128016" cy="128016"/>
          </a:xfrm>
          <a:prstGeom prst="rect">
            <a:avLst/>
          </a:prstGeom>
          <a:solidFill>
            <a:srgbClr val="1565C0"/>
          </a:solidFill>
          <a:ln w="12700">
            <a:solidFill>
              <a:srgbClr val="1565C0"/>
            </a:solidFill>
            <a:prstDash val="solid"/>
          </a:ln>
        </p:spPr>
      </p:sp>
      <p:sp>
        <p:nvSpPr>
          <p:cNvPr id="14" name="Text 12"/>
          <p:cNvSpPr/>
          <p:nvPr/>
        </p:nvSpPr>
        <p:spPr>
          <a:xfrm>
            <a:off x="640080" y="2542032"/>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Image stored in images/ folder</a:t>
            </a:r>
            <a:endParaRPr lang="en-US" sz="1050" dirty="0"/>
          </a:p>
        </p:txBody>
      </p:sp>
      <p:sp>
        <p:nvSpPr>
          <p:cNvPr id="15" name="Shape 13"/>
          <p:cNvSpPr/>
          <p:nvPr/>
        </p:nvSpPr>
        <p:spPr>
          <a:xfrm>
            <a:off x="429768" y="2990088"/>
            <a:ext cx="128016" cy="128016"/>
          </a:xfrm>
          <a:prstGeom prst="rect">
            <a:avLst/>
          </a:prstGeom>
          <a:solidFill>
            <a:srgbClr val="1565C0"/>
          </a:solidFill>
          <a:ln w="12700">
            <a:solidFill>
              <a:srgbClr val="1565C0"/>
            </a:solidFill>
            <a:prstDash val="solid"/>
          </a:ln>
        </p:spPr>
      </p:sp>
      <p:sp>
        <p:nvSpPr>
          <p:cNvPr id="16" name="Text 14"/>
          <p:cNvSpPr/>
          <p:nvPr/>
        </p:nvSpPr>
        <p:spPr>
          <a:xfrm>
            <a:off x="640080" y="2926080"/>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System reloads all face encodings</a:t>
            </a:r>
            <a:endParaRPr lang="en-US" sz="1050" dirty="0"/>
          </a:p>
        </p:txBody>
      </p:sp>
      <p:sp>
        <p:nvSpPr>
          <p:cNvPr id="17" name="Text 15"/>
          <p:cNvSpPr/>
          <p:nvPr/>
        </p:nvSpPr>
        <p:spPr>
          <a:xfrm>
            <a:off x="4251960" y="2057400"/>
            <a:ext cx="640080" cy="365760"/>
          </a:xfrm>
          <a:prstGeom prst="rect">
            <a:avLst/>
          </a:prstGeom>
          <a:noFill/>
          <a:ln/>
        </p:spPr>
        <p:txBody>
          <a:bodyPr wrap="square" rtlCol="0" anchor="ctr"/>
          <a:lstStyle/>
          <a:p>
            <a:pPr algn="ctr" indent="0" marL="0">
              <a:buNone/>
            </a:pPr>
            <a:r>
              <a:rPr lang="en-US" sz="2200" dirty="0">
                <a:solidFill>
                  <a:srgbClr val="90A4AE"/>
                </a:solidFill>
              </a:rPr>
              <a:t>⟷</a:t>
            </a:r>
            <a:endParaRPr lang="en-US" sz="2200" dirty="0"/>
          </a:p>
        </p:txBody>
      </p:sp>
      <p:sp>
        <p:nvSpPr>
          <p:cNvPr id="18" name="Text 16"/>
          <p:cNvSpPr/>
          <p:nvPr/>
        </p:nvSpPr>
        <p:spPr>
          <a:xfrm>
            <a:off x="4206240" y="2450592"/>
            <a:ext cx="731520" cy="365760"/>
          </a:xfrm>
          <a:prstGeom prst="rect">
            <a:avLst/>
          </a:prstGeom>
          <a:noFill/>
          <a:ln/>
        </p:spPr>
        <p:txBody>
          <a:bodyPr wrap="square" rtlCol="0" anchor="ctr"/>
          <a:lstStyle/>
          <a:p>
            <a:pPr algn="ctr" indent="0" marL="0">
              <a:buNone/>
            </a:pPr>
            <a:r>
              <a:rPr lang="en-US" sz="750" dirty="0">
                <a:solidFill>
                  <a:srgbClr val="90A4AE"/>
                </a:solidFill>
                <a:latin typeface="Calibri" pitchFamily="34" charset="0"/>
                <a:ea typeface="Calibri" pitchFamily="34" charset="-122"/>
                <a:cs typeface="Calibri" pitchFamily="34" charset="-120"/>
              </a:rPr>
              <a:t>SHARED</a:t>
            </a:r>
            <a:endParaRPr lang="en-US" sz="750" dirty="0"/>
          </a:p>
          <a:p>
            <a:pPr algn="ctr" indent="0" marL="0">
              <a:buNone/>
            </a:pPr>
            <a:r>
              <a:rPr lang="en-US" sz="750" dirty="0">
                <a:solidFill>
                  <a:srgbClr val="90A4AE"/>
                </a:solidFill>
                <a:latin typeface="Calibri" pitchFamily="34" charset="0"/>
                <a:ea typeface="Calibri" pitchFamily="34" charset="-122"/>
                <a:cs typeface="Calibri" pitchFamily="34" charset="-120"/>
              </a:rPr>
              <a:t>PIPELINE</a:t>
            </a:r>
            <a:endParaRPr lang="en-US" sz="750" dirty="0"/>
          </a:p>
        </p:txBody>
      </p:sp>
      <p:sp>
        <p:nvSpPr>
          <p:cNvPr id="19" name="Shape 17"/>
          <p:cNvSpPr/>
          <p:nvPr/>
        </p:nvSpPr>
        <p:spPr>
          <a:xfrm>
            <a:off x="4937760" y="960120"/>
            <a:ext cx="3931920" cy="2743200"/>
          </a:xfrm>
          <a:prstGeom prst="rect">
            <a:avLst/>
          </a:prstGeom>
          <a:solidFill>
            <a:srgbClr val="E8F5E9"/>
          </a:solidFill>
          <a:ln w="15240">
            <a:solidFill>
              <a:srgbClr val="A5D6A7"/>
            </a:solidFill>
            <a:prstDash val="solid"/>
          </a:ln>
        </p:spPr>
      </p:sp>
      <p:sp>
        <p:nvSpPr>
          <p:cNvPr id="20" name="Shape 18"/>
          <p:cNvSpPr/>
          <p:nvPr/>
        </p:nvSpPr>
        <p:spPr>
          <a:xfrm>
            <a:off x="4937760" y="960120"/>
            <a:ext cx="3931920" cy="347472"/>
          </a:xfrm>
          <a:prstGeom prst="rect">
            <a:avLst/>
          </a:prstGeom>
          <a:solidFill>
            <a:srgbClr val="2E7D32"/>
          </a:solidFill>
          <a:ln w="12700">
            <a:solidFill>
              <a:srgbClr val="2E7D32"/>
            </a:solidFill>
            <a:prstDash val="solid"/>
          </a:ln>
        </p:spPr>
      </p:sp>
      <p:sp>
        <p:nvSpPr>
          <p:cNvPr id="21" name="Text 19"/>
          <p:cNvSpPr/>
          <p:nvPr/>
        </p:nvSpPr>
        <p:spPr>
          <a:xfrm>
            <a:off x="5010912" y="978408"/>
            <a:ext cx="3794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VERIFICATION MODE</a:t>
            </a:r>
            <a:endParaRPr lang="en-US" sz="1200" dirty="0"/>
          </a:p>
        </p:txBody>
      </p:sp>
      <p:sp>
        <p:nvSpPr>
          <p:cNvPr id="22" name="Shape 20"/>
          <p:cNvSpPr/>
          <p:nvPr/>
        </p:nvSpPr>
        <p:spPr>
          <a:xfrm>
            <a:off x="5102352" y="1453896"/>
            <a:ext cx="128016" cy="128016"/>
          </a:xfrm>
          <a:prstGeom prst="rect">
            <a:avLst/>
          </a:prstGeom>
          <a:solidFill>
            <a:srgbClr val="2E7D32"/>
          </a:solidFill>
          <a:ln w="12700">
            <a:solidFill>
              <a:srgbClr val="2E7D32"/>
            </a:solidFill>
            <a:prstDash val="solid"/>
          </a:ln>
        </p:spPr>
      </p:sp>
      <p:sp>
        <p:nvSpPr>
          <p:cNvPr id="23" name="Text 21"/>
          <p:cNvSpPr/>
          <p:nvPr/>
        </p:nvSpPr>
        <p:spPr>
          <a:xfrm>
            <a:off x="5303520" y="1389888"/>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Student stands at the camera</a:t>
            </a:r>
            <a:endParaRPr lang="en-US" sz="1050" dirty="0"/>
          </a:p>
        </p:txBody>
      </p:sp>
      <p:sp>
        <p:nvSpPr>
          <p:cNvPr id="24" name="Shape 22"/>
          <p:cNvSpPr/>
          <p:nvPr/>
        </p:nvSpPr>
        <p:spPr>
          <a:xfrm>
            <a:off x="5102352" y="1837944"/>
            <a:ext cx="128016" cy="128016"/>
          </a:xfrm>
          <a:prstGeom prst="rect">
            <a:avLst/>
          </a:prstGeom>
          <a:solidFill>
            <a:srgbClr val="2E7D32"/>
          </a:solidFill>
          <a:ln w="12700">
            <a:solidFill>
              <a:srgbClr val="2E7D32"/>
            </a:solidFill>
            <a:prstDash val="solid"/>
          </a:ln>
        </p:spPr>
      </p:sp>
      <p:sp>
        <p:nvSpPr>
          <p:cNvPr id="25" name="Text 23"/>
          <p:cNvSpPr/>
          <p:nvPr/>
        </p:nvSpPr>
        <p:spPr>
          <a:xfrm>
            <a:off x="5303520" y="1773936"/>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All 11 preprocessing steps run</a:t>
            </a:r>
            <a:endParaRPr lang="en-US" sz="1050" dirty="0"/>
          </a:p>
        </p:txBody>
      </p:sp>
      <p:sp>
        <p:nvSpPr>
          <p:cNvPr id="26" name="Shape 24"/>
          <p:cNvSpPr/>
          <p:nvPr/>
        </p:nvSpPr>
        <p:spPr>
          <a:xfrm>
            <a:off x="5102352" y="2221992"/>
            <a:ext cx="128016" cy="128016"/>
          </a:xfrm>
          <a:prstGeom prst="rect">
            <a:avLst/>
          </a:prstGeom>
          <a:solidFill>
            <a:srgbClr val="2E7D32"/>
          </a:solidFill>
          <a:ln w="12700">
            <a:solidFill>
              <a:srgbClr val="2E7D32"/>
            </a:solidFill>
            <a:prstDash val="solid"/>
          </a:ln>
        </p:spPr>
      </p:sp>
      <p:sp>
        <p:nvSpPr>
          <p:cNvPr id="27" name="Text 25"/>
          <p:cNvSpPr/>
          <p:nvPr/>
        </p:nvSpPr>
        <p:spPr>
          <a:xfrm>
            <a:off x="5303520" y="2157984"/>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HOG finds the face in the frame</a:t>
            </a:r>
            <a:endParaRPr lang="en-US" sz="1050" dirty="0"/>
          </a:p>
        </p:txBody>
      </p:sp>
      <p:sp>
        <p:nvSpPr>
          <p:cNvPr id="28" name="Shape 26"/>
          <p:cNvSpPr/>
          <p:nvPr/>
        </p:nvSpPr>
        <p:spPr>
          <a:xfrm>
            <a:off x="5102352" y="2606040"/>
            <a:ext cx="128016" cy="128016"/>
          </a:xfrm>
          <a:prstGeom prst="rect">
            <a:avLst/>
          </a:prstGeom>
          <a:solidFill>
            <a:srgbClr val="2E7D32"/>
          </a:solidFill>
          <a:ln w="12700">
            <a:solidFill>
              <a:srgbClr val="2E7D32"/>
            </a:solidFill>
            <a:prstDash val="solid"/>
          </a:ln>
        </p:spPr>
      </p:sp>
      <p:sp>
        <p:nvSpPr>
          <p:cNvPr id="29" name="Text 27"/>
          <p:cNvSpPr/>
          <p:nvPr/>
        </p:nvSpPr>
        <p:spPr>
          <a:xfrm>
            <a:off x="5303520" y="2542032"/>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ResNet-34 converts face → 128 numbers</a:t>
            </a:r>
            <a:endParaRPr lang="en-US" sz="1050" dirty="0"/>
          </a:p>
        </p:txBody>
      </p:sp>
      <p:sp>
        <p:nvSpPr>
          <p:cNvPr id="30" name="Shape 28"/>
          <p:cNvSpPr/>
          <p:nvPr/>
        </p:nvSpPr>
        <p:spPr>
          <a:xfrm>
            <a:off x="5102352" y="2990088"/>
            <a:ext cx="128016" cy="128016"/>
          </a:xfrm>
          <a:prstGeom prst="rect">
            <a:avLst/>
          </a:prstGeom>
          <a:solidFill>
            <a:srgbClr val="2E7D32"/>
          </a:solidFill>
          <a:ln w="12700">
            <a:solidFill>
              <a:srgbClr val="2E7D32"/>
            </a:solidFill>
            <a:prstDash val="solid"/>
          </a:ln>
        </p:spPr>
      </p:sp>
      <p:sp>
        <p:nvSpPr>
          <p:cNvPr id="31" name="Text 29"/>
          <p:cNvSpPr/>
          <p:nvPr/>
        </p:nvSpPr>
        <p:spPr>
          <a:xfrm>
            <a:off x="5303520" y="2926080"/>
            <a:ext cx="3383280" cy="256032"/>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Match found → MongoDB logs attendance</a:t>
            </a:r>
            <a:endParaRPr lang="en-US" sz="1050" dirty="0"/>
          </a:p>
        </p:txBody>
      </p:sp>
      <p:sp>
        <p:nvSpPr>
          <p:cNvPr id="32" name="Shape 30"/>
          <p:cNvSpPr/>
          <p:nvPr/>
        </p:nvSpPr>
        <p:spPr>
          <a:xfrm>
            <a:off x="274320" y="3840480"/>
            <a:ext cx="8595360" cy="896112"/>
          </a:xfrm>
          <a:prstGeom prst="rect">
            <a:avLst/>
          </a:prstGeom>
          <a:solidFill>
            <a:srgbClr val="0B1F45"/>
          </a:solidFill>
          <a:ln w="12700">
            <a:solidFill>
              <a:srgbClr val="0B1F45"/>
            </a:solidFill>
            <a:prstDash val="solid"/>
          </a:ln>
        </p:spPr>
      </p:sp>
      <p:sp>
        <p:nvSpPr>
          <p:cNvPr id="33" name="Text 31"/>
          <p:cNvSpPr/>
          <p:nvPr/>
        </p:nvSpPr>
        <p:spPr>
          <a:xfrm>
            <a:off x="320040" y="3858768"/>
            <a:ext cx="8503920" cy="274320"/>
          </a:xfrm>
          <a:prstGeom prst="rect">
            <a:avLst/>
          </a:prstGeom>
          <a:noFill/>
          <a:ln/>
        </p:spPr>
        <p:txBody>
          <a:bodyPr wrap="square" rtlCol="0" anchor="ctr"/>
          <a:lstStyle/>
          <a:p>
            <a:pPr algn="ctr" indent="0" marL="0">
              <a:buNone/>
            </a:pPr>
            <a:r>
              <a:rPr lang="en-US" sz="1000" b="1" dirty="0">
                <a:solidFill>
                  <a:srgbClr val="00BCD4"/>
                </a:solidFill>
                <a:latin typeface="Calibri" pitchFamily="34" charset="0"/>
                <a:ea typeface="Calibri" pitchFamily="34" charset="-122"/>
                <a:cs typeface="Calibri" pitchFamily="34" charset="-120"/>
              </a:rPr>
              <a:t>SHARED PREPROCESSING PIPELINE  (runs on every camera frame)</a:t>
            </a:r>
            <a:endParaRPr lang="en-US" sz="1000" dirty="0"/>
          </a:p>
        </p:txBody>
      </p:sp>
      <p:sp>
        <p:nvSpPr>
          <p:cNvPr id="34" name="Shape 32"/>
          <p:cNvSpPr/>
          <p:nvPr/>
        </p:nvSpPr>
        <p:spPr>
          <a:xfrm>
            <a:off x="320040" y="4160520"/>
            <a:ext cx="982980" cy="475488"/>
          </a:xfrm>
          <a:prstGeom prst="rect">
            <a:avLst/>
          </a:prstGeom>
          <a:solidFill>
            <a:srgbClr val="1A3A70"/>
          </a:solidFill>
          <a:ln w="12700">
            <a:solidFill>
              <a:srgbClr val="1A3A70"/>
            </a:solidFill>
            <a:prstDash val="solid"/>
          </a:ln>
        </p:spPr>
      </p:sp>
      <p:sp>
        <p:nvSpPr>
          <p:cNvPr id="35" name="Text 33"/>
          <p:cNvSpPr/>
          <p:nvPr/>
        </p:nvSpPr>
        <p:spPr>
          <a:xfrm>
            <a:off x="32004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BGR→RGB</a:t>
            </a:r>
            <a:endParaRPr lang="en-US" sz="850" dirty="0"/>
          </a:p>
        </p:txBody>
      </p:sp>
      <p:sp>
        <p:nvSpPr>
          <p:cNvPr id="36" name="Text 34"/>
          <p:cNvSpPr/>
          <p:nvPr/>
        </p:nvSpPr>
        <p:spPr>
          <a:xfrm>
            <a:off x="125730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37" name="Shape 35"/>
          <p:cNvSpPr/>
          <p:nvPr/>
        </p:nvSpPr>
        <p:spPr>
          <a:xfrm>
            <a:off x="1394460" y="4160520"/>
            <a:ext cx="982980" cy="475488"/>
          </a:xfrm>
          <a:prstGeom prst="rect">
            <a:avLst/>
          </a:prstGeom>
          <a:solidFill>
            <a:srgbClr val="1A3A70"/>
          </a:solidFill>
          <a:ln w="12700">
            <a:solidFill>
              <a:srgbClr val="1A3A70"/>
            </a:solidFill>
            <a:prstDash val="solid"/>
          </a:ln>
        </p:spPr>
      </p:sp>
      <p:sp>
        <p:nvSpPr>
          <p:cNvPr id="38" name="Text 36"/>
          <p:cNvSpPr/>
          <p:nvPr/>
        </p:nvSpPr>
        <p:spPr>
          <a:xfrm>
            <a:off x="139446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Resize 25%</a:t>
            </a:r>
            <a:endParaRPr lang="en-US" sz="850" dirty="0"/>
          </a:p>
        </p:txBody>
      </p:sp>
      <p:sp>
        <p:nvSpPr>
          <p:cNvPr id="39" name="Text 37"/>
          <p:cNvSpPr/>
          <p:nvPr/>
        </p:nvSpPr>
        <p:spPr>
          <a:xfrm>
            <a:off x="233172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40" name="Shape 38"/>
          <p:cNvSpPr/>
          <p:nvPr/>
        </p:nvSpPr>
        <p:spPr>
          <a:xfrm>
            <a:off x="2468880" y="4160520"/>
            <a:ext cx="982980" cy="475488"/>
          </a:xfrm>
          <a:prstGeom prst="rect">
            <a:avLst/>
          </a:prstGeom>
          <a:solidFill>
            <a:srgbClr val="1A3A70"/>
          </a:solidFill>
          <a:ln w="12700">
            <a:solidFill>
              <a:srgbClr val="1A3A70"/>
            </a:solidFill>
            <a:prstDash val="solid"/>
          </a:ln>
        </p:spPr>
      </p:sp>
      <p:sp>
        <p:nvSpPr>
          <p:cNvPr id="41" name="Text 39"/>
          <p:cNvSpPr/>
          <p:nvPr/>
        </p:nvSpPr>
        <p:spPr>
          <a:xfrm>
            <a:off x="246888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CLAHE</a:t>
            </a:r>
            <a:endParaRPr lang="en-US" sz="850" dirty="0"/>
          </a:p>
        </p:txBody>
      </p:sp>
      <p:sp>
        <p:nvSpPr>
          <p:cNvPr id="42" name="Text 40"/>
          <p:cNvSpPr/>
          <p:nvPr/>
        </p:nvSpPr>
        <p:spPr>
          <a:xfrm>
            <a:off x="340614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43" name="Shape 41"/>
          <p:cNvSpPr/>
          <p:nvPr/>
        </p:nvSpPr>
        <p:spPr>
          <a:xfrm>
            <a:off x="3543300" y="4160520"/>
            <a:ext cx="982980" cy="475488"/>
          </a:xfrm>
          <a:prstGeom prst="rect">
            <a:avLst/>
          </a:prstGeom>
          <a:solidFill>
            <a:srgbClr val="1A3A70"/>
          </a:solidFill>
          <a:ln w="12700">
            <a:solidFill>
              <a:srgbClr val="1A3A70"/>
            </a:solidFill>
            <a:prstDash val="solid"/>
          </a:ln>
        </p:spPr>
      </p:sp>
      <p:sp>
        <p:nvSpPr>
          <p:cNvPr id="44" name="Text 42"/>
          <p:cNvSpPr/>
          <p:nvPr/>
        </p:nvSpPr>
        <p:spPr>
          <a:xfrm>
            <a:off x="354330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Gauss Blur</a:t>
            </a:r>
            <a:endParaRPr lang="en-US" sz="850" dirty="0"/>
          </a:p>
        </p:txBody>
      </p:sp>
      <p:sp>
        <p:nvSpPr>
          <p:cNvPr id="45" name="Text 43"/>
          <p:cNvSpPr/>
          <p:nvPr/>
        </p:nvSpPr>
        <p:spPr>
          <a:xfrm>
            <a:off x="448056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46" name="Shape 44"/>
          <p:cNvSpPr/>
          <p:nvPr/>
        </p:nvSpPr>
        <p:spPr>
          <a:xfrm>
            <a:off x="4617720" y="4160520"/>
            <a:ext cx="982980" cy="475488"/>
          </a:xfrm>
          <a:prstGeom prst="rect">
            <a:avLst/>
          </a:prstGeom>
          <a:solidFill>
            <a:srgbClr val="1A3A70"/>
          </a:solidFill>
          <a:ln w="12700">
            <a:solidFill>
              <a:srgbClr val="1A3A70"/>
            </a:solidFill>
            <a:prstDash val="solid"/>
          </a:ln>
        </p:spPr>
      </p:sp>
      <p:sp>
        <p:nvSpPr>
          <p:cNvPr id="47" name="Text 45"/>
          <p:cNvSpPr/>
          <p:nvPr/>
        </p:nvSpPr>
        <p:spPr>
          <a:xfrm>
            <a:off x="461772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HOG Detect</a:t>
            </a:r>
            <a:endParaRPr lang="en-US" sz="850" dirty="0"/>
          </a:p>
        </p:txBody>
      </p:sp>
      <p:sp>
        <p:nvSpPr>
          <p:cNvPr id="48" name="Text 46"/>
          <p:cNvSpPr/>
          <p:nvPr/>
        </p:nvSpPr>
        <p:spPr>
          <a:xfrm>
            <a:off x="555498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49" name="Shape 47"/>
          <p:cNvSpPr/>
          <p:nvPr/>
        </p:nvSpPr>
        <p:spPr>
          <a:xfrm>
            <a:off x="5692140" y="4160520"/>
            <a:ext cx="982980" cy="475488"/>
          </a:xfrm>
          <a:prstGeom prst="rect">
            <a:avLst/>
          </a:prstGeom>
          <a:solidFill>
            <a:srgbClr val="1A3A70"/>
          </a:solidFill>
          <a:ln w="12700">
            <a:solidFill>
              <a:srgbClr val="1A3A70"/>
            </a:solidFill>
            <a:prstDash val="solid"/>
          </a:ln>
        </p:spPr>
      </p:sp>
      <p:sp>
        <p:nvSpPr>
          <p:cNvPr id="50" name="Text 48"/>
          <p:cNvSpPr/>
          <p:nvPr/>
        </p:nvSpPr>
        <p:spPr>
          <a:xfrm>
            <a:off x="569214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ResNet Encode</a:t>
            </a:r>
            <a:endParaRPr lang="en-US" sz="850" dirty="0"/>
          </a:p>
        </p:txBody>
      </p:sp>
      <p:sp>
        <p:nvSpPr>
          <p:cNvPr id="51" name="Text 49"/>
          <p:cNvSpPr/>
          <p:nvPr/>
        </p:nvSpPr>
        <p:spPr>
          <a:xfrm>
            <a:off x="662940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52" name="Shape 50"/>
          <p:cNvSpPr/>
          <p:nvPr/>
        </p:nvSpPr>
        <p:spPr>
          <a:xfrm>
            <a:off x="6766560" y="4160520"/>
            <a:ext cx="982980" cy="475488"/>
          </a:xfrm>
          <a:prstGeom prst="rect">
            <a:avLst/>
          </a:prstGeom>
          <a:solidFill>
            <a:srgbClr val="1A3A70"/>
          </a:solidFill>
          <a:ln w="12700">
            <a:solidFill>
              <a:srgbClr val="1A3A70"/>
            </a:solidFill>
            <a:prstDash val="solid"/>
          </a:ln>
        </p:spPr>
      </p:sp>
      <p:sp>
        <p:nvSpPr>
          <p:cNvPr id="53" name="Text 51"/>
          <p:cNvSpPr/>
          <p:nvPr/>
        </p:nvSpPr>
        <p:spPr>
          <a:xfrm>
            <a:off x="676656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Match</a:t>
            </a:r>
            <a:endParaRPr lang="en-US" sz="850" dirty="0"/>
          </a:p>
        </p:txBody>
      </p:sp>
      <p:sp>
        <p:nvSpPr>
          <p:cNvPr id="54" name="Text 52"/>
          <p:cNvSpPr/>
          <p:nvPr/>
        </p:nvSpPr>
        <p:spPr>
          <a:xfrm>
            <a:off x="7703820" y="4251960"/>
            <a:ext cx="109728" cy="274320"/>
          </a:xfrm>
          <a:prstGeom prst="rect">
            <a:avLst/>
          </a:prstGeom>
          <a:noFill/>
          <a:ln/>
        </p:spPr>
        <p:txBody>
          <a:bodyPr wrap="square" rtlCol="0" anchor="ctr"/>
          <a:lstStyle/>
          <a:p>
            <a:pPr algn="ctr" indent="0" marL="0">
              <a:buNone/>
            </a:pPr>
            <a:r>
              <a:rPr lang="en-US" sz="1300" dirty="0">
                <a:solidFill>
                  <a:srgbClr val="00BCD4"/>
                </a:solidFill>
              </a:rPr>
              <a:t>›</a:t>
            </a:r>
            <a:endParaRPr lang="en-US" sz="1300" dirty="0"/>
          </a:p>
        </p:txBody>
      </p:sp>
      <p:sp>
        <p:nvSpPr>
          <p:cNvPr id="55" name="Shape 53"/>
          <p:cNvSpPr/>
          <p:nvPr/>
        </p:nvSpPr>
        <p:spPr>
          <a:xfrm>
            <a:off x="7840980" y="4160520"/>
            <a:ext cx="982980" cy="475488"/>
          </a:xfrm>
          <a:prstGeom prst="rect">
            <a:avLst/>
          </a:prstGeom>
          <a:solidFill>
            <a:srgbClr val="1A3A70"/>
          </a:solidFill>
          <a:ln w="12700">
            <a:solidFill>
              <a:srgbClr val="1A3A70"/>
            </a:solidFill>
            <a:prstDash val="solid"/>
          </a:ln>
        </p:spPr>
      </p:sp>
      <p:sp>
        <p:nvSpPr>
          <p:cNvPr id="56" name="Text 54"/>
          <p:cNvSpPr/>
          <p:nvPr/>
        </p:nvSpPr>
        <p:spPr>
          <a:xfrm>
            <a:off x="7840980" y="4160520"/>
            <a:ext cx="982980" cy="47548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DB Log</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w="12700">
            <a:solidFill>
              <a:srgbClr val="00BCD4"/>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03  Image Preprocessing Pipeline</a:t>
            </a:r>
            <a:endParaRPr lang="en-US" sz="2400" dirty="0"/>
          </a:p>
        </p:txBody>
      </p:sp>
      <p:sp>
        <p:nvSpPr>
          <p:cNvPr id="4" name="Text 2"/>
          <p:cNvSpPr/>
          <p:nvPr/>
        </p:nvSpPr>
        <p:spPr>
          <a:xfrm>
            <a:off x="365760" y="566928"/>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The most important part of our project — 11 steps that prepare each camera frame for the AI</a:t>
            </a:r>
            <a:endParaRPr lang="en-US" sz="1200" dirty="0"/>
          </a:p>
        </p:txBody>
      </p:sp>
      <p:sp>
        <p:nvSpPr>
          <p:cNvPr id="5" name="Shape 3"/>
          <p:cNvSpPr/>
          <p:nvPr/>
        </p:nvSpPr>
        <p:spPr>
          <a:xfrm>
            <a:off x="256032" y="914400"/>
            <a:ext cx="731520" cy="960120"/>
          </a:xfrm>
          <a:prstGeom prst="rect">
            <a:avLst/>
          </a:prstGeom>
          <a:solidFill>
            <a:srgbClr val="1565C0"/>
          </a:solidFill>
          <a:ln w="12700">
            <a:solidFill>
              <a:srgbClr val="1565C0"/>
            </a:solidFill>
            <a:prstDash val="solid"/>
          </a:ln>
        </p:spPr>
      </p:sp>
      <p:sp>
        <p:nvSpPr>
          <p:cNvPr id="6" name="Text 4"/>
          <p:cNvSpPr/>
          <p:nvPr/>
        </p:nvSpPr>
        <p:spPr>
          <a:xfrm>
            <a:off x="256032"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256032"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Frame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Capture</a:t>
            </a:r>
            <a:endParaRPr lang="en-US" sz="900" dirty="0"/>
          </a:p>
        </p:txBody>
      </p:sp>
      <p:sp>
        <p:nvSpPr>
          <p:cNvPr id="8" name="Text 6"/>
          <p:cNvSpPr/>
          <p:nvPr/>
        </p:nvSpPr>
        <p:spPr>
          <a:xfrm>
            <a:off x="987552"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9" name="Shape 7"/>
          <p:cNvSpPr/>
          <p:nvPr/>
        </p:nvSpPr>
        <p:spPr>
          <a:xfrm>
            <a:off x="1037844" y="914400"/>
            <a:ext cx="731520" cy="960120"/>
          </a:xfrm>
          <a:prstGeom prst="rect">
            <a:avLst/>
          </a:prstGeom>
          <a:solidFill>
            <a:srgbClr val="00838F"/>
          </a:solidFill>
          <a:ln w="12700">
            <a:solidFill>
              <a:srgbClr val="00838F"/>
            </a:solidFill>
            <a:prstDash val="solid"/>
          </a:ln>
        </p:spPr>
      </p:sp>
      <p:sp>
        <p:nvSpPr>
          <p:cNvPr id="10" name="Text 8"/>
          <p:cNvSpPr/>
          <p:nvPr/>
        </p:nvSpPr>
        <p:spPr>
          <a:xfrm>
            <a:off x="1037844"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037844"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BGR→RGB</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Convert</a:t>
            </a:r>
            <a:endParaRPr lang="en-US" sz="900" dirty="0"/>
          </a:p>
        </p:txBody>
      </p:sp>
      <p:sp>
        <p:nvSpPr>
          <p:cNvPr id="12" name="Text 10"/>
          <p:cNvSpPr/>
          <p:nvPr/>
        </p:nvSpPr>
        <p:spPr>
          <a:xfrm>
            <a:off x="1769364"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13" name="Shape 11"/>
          <p:cNvSpPr/>
          <p:nvPr/>
        </p:nvSpPr>
        <p:spPr>
          <a:xfrm>
            <a:off x="1819656" y="914400"/>
            <a:ext cx="731520" cy="960120"/>
          </a:xfrm>
          <a:prstGeom prst="rect">
            <a:avLst/>
          </a:prstGeom>
          <a:solidFill>
            <a:srgbClr val="1565C0"/>
          </a:solidFill>
          <a:ln w="12700">
            <a:solidFill>
              <a:srgbClr val="1565C0"/>
            </a:solidFill>
            <a:prstDash val="solid"/>
          </a:ln>
        </p:spPr>
      </p:sp>
      <p:sp>
        <p:nvSpPr>
          <p:cNvPr id="14" name="Text 12"/>
          <p:cNvSpPr/>
          <p:nvPr/>
        </p:nvSpPr>
        <p:spPr>
          <a:xfrm>
            <a:off x="1819656"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819656"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Resize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25%</a:t>
            </a:r>
            <a:endParaRPr lang="en-US" sz="900" dirty="0"/>
          </a:p>
        </p:txBody>
      </p:sp>
      <p:sp>
        <p:nvSpPr>
          <p:cNvPr id="16" name="Text 14"/>
          <p:cNvSpPr/>
          <p:nvPr/>
        </p:nvSpPr>
        <p:spPr>
          <a:xfrm>
            <a:off x="2551176"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17" name="Shape 15"/>
          <p:cNvSpPr/>
          <p:nvPr/>
        </p:nvSpPr>
        <p:spPr>
          <a:xfrm>
            <a:off x="2601468" y="914400"/>
            <a:ext cx="731520" cy="960120"/>
          </a:xfrm>
          <a:prstGeom prst="rect">
            <a:avLst/>
          </a:prstGeom>
          <a:solidFill>
            <a:srgbClr val="00838F"/>
          </a:solidFill>
          <a:ln w="12700">
            <a:solidFill>
              <a:srgbClr val="00838F"/>
            </a:solidFill>
            <a:prstDash val="solid"/>
          </a:ln>
        </p:spPr>
      </p:sp>
      <p:sp>
        <p:nvSpPr>
          <p:cNvPr id="18" name="Text 16"/>
          <p:cNvSpPr/>
          <p:nvPr/>
        </p:nvSpPr>
        <p:spPr>
          <a:xfrm>
            <a:off x="2601468"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2601468"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Grayscale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Convert</a:t>
            </a:r>
            <a:endParaRPr lang="en-US" sz="900" dirty="0"/>
          </a:p>
        </p:txBody>
      </p:sp>
      <p:sp>
        <p:nvSpPr>
          <p:cNvPr id="20" name="Text 18"/>
          <p:cNvSpPr/>
          <p:nvPr/>
        </p:nvSpPr>
        <p:spPr>
          <a:xfrm>
            <a:off x="3332988"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21" name="Shape 19"/>
          <p:cNvSpPr/>
          <p:nvPr/>
        </p:nvSpPr>
        <p:spPr>
          <a:xfrm>
            <a:off x="3383280" y="914400"/>
            <a:ext cx="731520" cy="960120"/>
          </a:xfrm>
          <a:prstGeom prst="rect">
            <a:avLst/>
          </a:prstGeom>
          <a:solidFill>
            <a:srgbClr val="E65100"/>
          </a:solidFill>
          <a:ln w="12700">
            <a:solidFill>
              <a:srgbClr val="E65100"/>
            </a:solidFill>
            <a:prstDash val="solid"/>
          </a:ln>
        </p:spPr>
      </p:sp>
      <p:sp>
        <p:nvSpPr>
          <p:cNvPr id="22" name="Text 20"/>
          <p:cNvSpPr/>
          <p:nvPr/>
        </p:nvSpPr>
        <p:spPr>
          <a:xfrm>
            <a:off x="3383280"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3383280"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CLAHE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Lighting</a:t>
            </a:r>
            <a:endParaRPr lang="en-US" sz="900" dirty="0"/>
          </a:p>
        </p:txBody>
      </p:sp>
      <p:sp>
        <p:nvSpPr>
          <p:cNvPr id="24" name="Text 22"/>
          <p:cNvSpPr/>
          <p:nvPr/>
        </p:nvSpPr>
        <p:spPr>
          <a:xfrm>
            <a:off x="4114800"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25" name="Shape 23"/>
          <p:cNvSpPr/>
          <p:nvPr/>
        </p:nvSpPr>
        <p:spPr>
          <a:xfrm>
            <a:off x="4165092" y="914400"/>
            <a:ext cx="731520" cy="960120"/>
          </a:xfrm>
          <a:prstGeom prst="rect">
            <a:avLst/>
          </a:prstGeom>
          <a:solidFill>
            <a:srgbClr val="1565C0"/>
          </a:solidFill>
          <a:ln w="12700">
            <a:solidFill>
              <a:srgbClr val="1565C0"/>
            </a:solidFill>
            <a:prstDash val="solid"/>
          </a:ln>
        </p:spPr>
      </p:sp>
      <p:sp>
        <p:nvSpPr>
          <p:cNvPr id="26" name="Text 24"/>
          <p:cNvSpPr/>
          <p:nvPr/>
        </p:nvSpPr>
        <p:spPr>
          <a:xfrm>
            <a:off x="4165092"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4165092"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Gaussian</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Blur</a:t>
            </a:r>
            <a:endParaRPr lang="en-US" sz="900" dirty="0"/>
          </a:p>
        </p:txBody>
      </p:sp>
      <p:sp>
        <p:nvSpPr>
          <p:cNvPr id="28" name="Text 26"/>
          <p:cNvSpPr/>
          <p:nvPr/>
        </p:nvSpPr>
        <p:spPr>
          <a:xfrm>
            <a:off x="4896612"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29" name="Shape 27"/>
          <p:cNvSpPr/>
          <p:nvPr/>
        </p:nvSpPr>
        <p:spPr>
          <a:xfrm>
            <a:off x="4946904" y="914400"/>
            <a:ext cx="731520" cy="960120"/>
          </a:xfrm>
          <a:prstGeom prst="rect">
            <a:avLst/>
          </a:prstGeom>
          <a:solidFill>
            <a:srgbClr val="6A1B9A"/>
          </a:solidFill>
          <a:ln w="12700">
            <a:solidFill>
              <a:srgbClr val="6A1B9A"/>
            </a:solidFill>
            <a:prstDash val="solid"/>
          </a:ln>
        </p:spPr>
      </p:sp>
      <p:sp>
        <p:nvSpPr>
          <p:cNvPr id="30" name="Text 28"/>
          <p:cNvSpPr/>
          <p:nvPr/>
        </p:nvSpPr>
        <p:spPr>
          <a:xfrm>
            <a:off x="4946904"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4946904"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HOG</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Detect</a:t>
            </a:r>
            <a:endParaRPr lang="en-US" sz="900" dirty="0"/>
          </a:p>
        </p:txBody>
      </p:sp>
      <p:sp>
        <p:nvSpPr>
          <p:cNvPr id="32" name="Text 30"/>
          <p:cNvSpPr/>
          <p:nvPr/>
        </p:nvSpPr>
        <p:spPr>
          <a:xfrm>
            <a:off x="5678424"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33" name="Shape 31"/>
          <p:cNvSpPr/>
          <p:nvPr/>
        </p:nvSpPr>
        <p:spPr>
          <a:xfrm>
            <a:off x="5728716" y="914400"/>
            <a:ext cx="731520" cy="960120"/>
          </a:xfrm>
          <a:prstGeom prst="rect">
            <a:avLst/>
          </a:prstGeom>
          <a:solidFill>
            <a:srgbClr val="00838F"/>
          </a:solidFill>
          <a:ln w="12700">
            <a:solidFill>
              <a:srgbClr val="00838F"/>
            </a:solidFill>
            <a:prstDash val="solid"/>
          </a:ln>
        </p:spPr>
      </p:sp>
      <p:sp>
        <p:nvSpPr>
          <p:cNvPr id="34" name="Text 32"/>
          <p:cNvSpPr/>
          <p:nvPr/>
        </p:nvSpPr>
        <p:spPr>
          <a:xfrm>
            <a:off x="5728716"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5" name="Text 33"/>
          <p:cNvSpPr/>
          <p:nvPr/>
        </p:nvSpPr>
        <p:spPr>
          <a:xfrm>
            <a:off x="5728716"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ROI</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Crop</a:t>
            </a:r>
            <a:endParaRPr lang="en-US" sz="900" dirty="0"/>
          </a:p>
        </p:txBody>
      </p:sp>
      <p:sp>
        <p:nvSpPr>
          <p:cNvPr id="36" name="Text 34"/>
          <p:cNvSpPr/>
          <p:nvPr/>
        </p:nvSpPr>
        <p:spPr>
          <a:xfrm>
            <a:off x="6460236"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37" name="Shape 35"/>
          <p:cNvSpPr/>
          <p:nvPr/>
        </p:nvSpPr>
        <p:spPr>
          <a:xfrm>
            <a:off x="6510528" y="914400"/>
            <a:ext cx="731520" cy="960120"/>
          </a:xfrm>
          <a:prstGeom prst="rect">
            <a:avLst/>
          </a:prstGeom>
          <a:solidFill>
            <a:srgbClr val="1565C0"/>
          </a:solidFill>
          <a:ln w="12700">
            <a:solidFill>
              <a:srgbClr val="1565C0"/>
            </a:solidFill>
            <a:prstDash val="solid"/>
          </a:ln>
        </p:spPr>
      </p:sp>
      <p:sp>
        <p:nvSpPr>
          <p:cNvPr id="38" name="Text 36"/>
          <p:cNvSpPr/>
          <p:nvPr/>
        </p:nvSpPr>
        <p:spPr>
          <a:xfrm>
            <a:off x="6510528"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39" name="Text 37"/>
          <p:cNvSpPr/>
          <p:nvPr/>
        </p:nvSpPr>
        <p:spPr>
          <a:xfrm>
            <a:off x="6510528"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Face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Align</a:t>
            </a:r>
            <a:endParaRPr lang="en-US" sz="900" dirty="0"/>
          </a:p>
        </p:txBody>
      </p:sp>
      <p:sp>
        <p:nvSpPr>
          <p:cNvPr id="40" name="Text 38"/>
          <p:cNvSpPr/>
          <p:nvPr/>
        </p:nvSpPr>
        <p:spPr>
          <a:xfrm>
            <a:off x="7242048"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41" name="Shape 39"/>
          <p:cNvSpPr/>
          <p:nvPr/>
        </p:nvSpPr>
        <p:spPr>
          <a:xfrm>
            <a:off x="7292340" y="914400"/>
            <a:ext cx="731520" cy="960120"/>
          </a:xfrm>
          <a:prstGeom prst="rect">
            <a:avLst/>
          </a:prstGeom>
          <a:solidFill>
            <a:srgbClr val="6A1B9A"/>
          </a:solidFill>
          <a:ln w="12700">
            <a:solidFill>
              <a:srgbClr val="6A1B9A"/>
            </a:solidFill>
            <a:prstDash val="solid"/>
          </a:ln>
        </p:spPr>
      </p:sp>
      <p:sp>
        <p:nvSpPr>
          <p:cNvPr id="42" name="Text 40"/>
          <p:cNvSpPr/>
          <p:nvPr/>
        </p:nvSpPr>
        <p:spPr>
          <a:xfrm>
            <a:off x="7292340"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3" name="Text 41"/>
          <p:cNvSpPr/>
          <p:nvPr/>
        </p:nvSpPr>
        <p:spPr>
          <a:xfrm>
            <a:off x="7292340"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Normalise</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Pixels</a:t>
            </a:r>
            <a:endParaRPr lang="en-US" sz="900" dirty="0"/>
          </a:p>
        </p:txBody>
      </p:sp>
      <p:sp>
        <p:nvSpPr>
          <p:cNvPr id="44" name="Text 42"/>
          <p:cNvSpPr/>
          <p:nvPr/>
        </p:nvSpPr>
        <p:spPr>
          <a:xfrm>
            <a:off x="8023860" y="1097280"/>
            <a:ext cx="86868" cy="320040"/>
          </a:xfrm>
          <a:prstGeom prst="rect">
            <a:avLst/>
          </a:prstGeom>
          <a:noFill/>
          <a:ln/>
        </p:spPr>
        <p:txBody>
          <a:bodyPr wrap="square" rtlCol="0" anchor="ctr"/>
          <a:lstStyle/>
          <a:p>
            <a:pPr algn="ctr" indent="0" marL="0">
              <a:buNone/>
            </a:pPr>
            <a:r>
              <a:rPr lang="en-US" sz="1100" dirty="0">
                <a:solidFill>
                  <a:srgbClr val="00BCD4"/>
                </a:solidFill>
              </a:rPr>
              <a:t>›</a:t>
            </a:r>
            <a:endParaRPr lang="en-US" sz="1100" dirty="0"/>
          </a:p>
        </p:txBody>
      </p:sp>
      <p:sp>
        <p:nvSpPr>
          <p:cNvPr id="45" name="Shape 43"/>
          <p:cNvSpPr/>
          <p:nvPr/>
        </p:nvSpPr>
        <p:spPr>
          <a:xfrm>
            <a:off x="8074152" y="914400"/>
            <a:ext cx="731520" cy="960120"/>
          </a:xfrm>
          <a:prstGeom prst="rect">
            <a:avLst/>
          </a:prstGeom>
          <a:solidFill>
            <a:srgbClr val="C62828"/>
          </a:solidFill>
          <a:ln w="12700">
            <a:solidFill>
              <a:srgbClr val="C62828"/>
            </a:solidFill>
            <a:prstDash val="solid"/>
          </a:ln>
        </p:spPr>
      </p:sp>
      <p:sp>
        <p:nvSpPr>
          <p:cNvPr id="46" name="Text 44"/>
          <p:cNvSpPr/>
          <p:nvPr/>
        </p:nvSpPr>
        <p:spPr>
          <a:xfrm>
            <a:off x="8074152" y="941832"/>
            <a:ext cx="731520" cy="256032"/>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7" name="Text 45"/>
          <p:cNvSpPr/>
          <p:nvPr/>
        </p:nvSpPr>
        <p:spPr>
          <a:xfrm>
            <a:off x="8074152" y="1216152"/>
            <a:ext cx="731520" cy="594360"/>
          </a:xfrm>
          <a:prstGeom prst="rect">
            <a:avLst/>
          </a:prstGeom>
          <a:noFill/>
          <a:ln/>
        </p:spPr>
        <p:txBody>
          <a:bodyPr wrap="square"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ResNet-34</a:t>
            </a:r>
            <a:endParaRPr lang="en-US" sz="900" dirty="0"/>
          </a:p>
          <a:p>
            <a:pPr algn="ctr" indent="0" marL="0">
              <a:buNone/>
            </a:pPr>
            <a:r>
              <a:rPr lang="en-US" sz="900" dirty="0">
                <a:solidFill>
                  <a:srgbClr val="FFFFFF"/>
                </a:solidFill>
                <a:latin typeface="Calibri" pitchFamily="34" charset="0"/>
                <a:ea typeface="Calibri" pitchFamily="34" charset="-122"/>
                <a:cs typeface="Calibri" pitchFamily="34" charset="-120"/>
              </a:rPr>
              <a:t>Encode</a:t>
            </a:r>
            <a:endParaRPr lang="en-US" sz="900" dirty="0"/>
          </a:p>
        </p:txBody>
      </p:sp>
      <p:sp>
        <p:nvSpPr>
          <p:cNvPr id="48" name="Shape 46"/>
          <p:cNvSpPr/>
          <p:nvPr/>
        </p:nvSpPr>
        <p:spPr>
          <a:xfrm>
            <a:off x="256032" y="1993392"/>
            <a:ext cx="2834640" cy="2834640"/>
          </a:xfrm>
          <a:prstGeom prst="rect">
            <a:avLst/>
          </a:prstGeom>
          <a:solidFill>
            <a:srgbClr val="132C5A"/>
          </a:solidFill>
          <a:ln w="12700">
            <a:solidFill>
              <a:srgbClr val="132C5A"/>
            </a:solidFill>
            <a:prstDash val="solid"/>
          </a:ln>
        </p:spPr>
      </p:sp>
      <p:sp>
        <p:nvSpPr>
          <p:cNvPr id="49" name="Shape 47"/>
          <p:cNvSpPr/>
          <p:nvPr/>
        </p:nvSpPr>
        <p:spPr>
          <a:xfrm>
            <a:off x="256032" y="1993392"/>
            <a:ext cx="2834640" cy="365760"/>
          </a:xfrm>
          <a:prstGeom prst="rect">
            <a:avLst/>
          </a:prstGeom>
          <a:solidFill>
            <a:srgbClr val="1565C0"/>
          </a:solidFill>
          <a:ln w="12700">
            <a:solidFill>
              <a:srgbClr val="1565C0"/>
            </a:solidFill>
            <a:prstDash val="solid"/>
          </a:ln>
        </p:spPr>
      </p:sp>
      <p:sp>
        <p:nvSpPr>
          <p:cNvPr id="50" name="Text 48"/>
          <p:cNvSpPr/>
          <p:nvPr/>
        </p:nvSpPr>
        <p:spPr>
          <a:xfrm>
            <a:off x="347472" y="2011680"/>
            <a:ext cx="26517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is preprocessing needed?</a:t>
            </a:r>
            <a:endParaRPr lang="en-US" sz="1100" dirty="0"/>
          </a:p>
        </p:txBody>
      </p:sp>
      <p:sp>
        <p:nvSpPr>
          <p:cNvPr id="51" name="Text 49"/>
          <p:cNvSpPr/>
          <p:nvPr/>
        </p:nvSpPr>
        <p:spPr>
          <a:xfrm>
            <a:off x="347472" y="2395728"/>
            <a:ext cx="2651760" cy="233172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The raw camera image is imperfect — wrong colour order, uneven lighting, sensor noise, head tilt. If we send raw images to the AI, it fails. Preprocessing fixes every one of these problems before the AI ever sees the image.</a:t>
            </a:r>
            <a:endParaRPr lang="en-US" sz="1000" dirty="0"/>
          </a:p>
        </p:txBody>
      </p:sp>
      <p:sp>
        <p:nvSpPr>
          <p:cNvPr id="52" name="Shape 50"/>
          <p:cNvSpPr/>
          <p:nvPr/>
        </p:nvSpPr>
        <p:spPr>
          <a:xfrm>
            <a:off x="3246120" y="1993392"/>
            <a:ext cx="2834640" cy="2834640"/>
          </a:xfrm>
          <a:prstGeom prst="rect">
            <a:avLst/>
          </a:prstGeom>
          <a:solidFill>
            <a:srgbClr val="132C5A"/>
          </a:solidFill>
          <a:ln w="12700">
            <a:solidFill>
              <a:srgbClr val="132C5A"/>
            </a:solidFill>
            <a:prstDash val="solid"/>
          </a:ln>
        </p:spPr>
      </p:sp>
      <p:sp>
        <p:nvSpPr>
          <p:cNvPr id="53" name="Shape 51"/>
          <p:cNvSpPr/>
          <p:nvPr/>
        </p:nvSpPr>
        <p:spPr>
          <a:xfrm>
            <a:off x="3246120" y="1993392"/>
            <a:ext cx="2834640" cy="365760"/>
          </a:xfrm>
          <a:prstGeom prst="rect">
            <a:avLst/>
          </a:prstGeom>
          <a:solidFill>
            <a:srgbClr val="E65100"/>
          </a:solidFill>
          <a:ln w="12700">
            <a:solidFill>
              <a:srgbClr val="E65100"/>
            </a:solidFill>
            <a:prstDash val="solid"/>
          </a:ln>
        </p:spPr>
      </p:sp>
      <p:sp>
        <p:nvSpPr>
          <p:cNvPr id="54" name="Text 52"/>
          <p:cNvSpPr/>
          <p:nvPr/>
        </p:nvSpPr>
        <p:spPr>
          <a:xfrm>
            <a:off x="3337560" y="2011680"/>
            <a:ext cx="26517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What happens if we skip it?</a:t>
            </a:r>
            <a:endParaRPr lang="en-US" sz="1100" dirty="0"/>
          </a:p>
        </p:txBody>
      </p:sp>
      <p:sp>
        <p:nvSpPr>
          <p:cNvPr id="55" name="Text 53"/>
          <p:cNvSpPr/>
          <p:nvPr/>
        </p:nvSpPr>
        <p:spPr>
          <a:xfrm>
            <a:off x="3337560" y="2395728"/>
            <a:ext cx="2651760" cy="233172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Without BGR→RGB fix: AI produces wrong 128-number fingerprint and identifies nobody. Without CLAHE: faces in shadow are not detected. Without resizing: the system runs too slowly to work in real time.</a:t>
            </a:r>
            <a:endParaRPr lang="en-US" sz="1000" dirty="0"/>
          </a:p>
        </p:txBody>
      </p:sp>
      <p:sp>
        <p:nvSpPr>
          <p:cNvPr id="56" name="Shape 54"/>
          <p:cNvSpPr/>
          <p:nvPr/>
        </p:nvSpPr>
        <p:spPr>
          <a:xfrm>
            <a:off x="6236208" y="1993392"/>
            <a:ext cx="2834640" cy="2834640"/>
          </a:xfrm>
          <a:prstGeom prst="rect">
            <a:avLst/>
          </a:prstGeom>
          <a:solidFill>
            <a:srgbClr val="132C5A"/>
          </a:solidFill>
          <a:ln w="12700">
            <a:solidFill>
              <a:srgbClr val="132C5A"/>
            </a:solidFill>
            <a:prstDash val="solid"/>
          </a:ln>
        </p:spPr>
      </p:sp>
      <p:sp>
        <p:nvSpPr>
          <p:cNvPr id="57" name="Shape 55"/>
          <p:cNvSpPr/>
          <p:nvPr/>
        </p:nvSpPr>
        <p:spPr>
          <a:xfrm>
            <a:off x="6236208" y="1993392"/>
            <a:ext cx="2834640" cy="365760"/>
          </a:xfrm>
          <a:prstGeom prst="rect">
            <a:avLst/>
          </a:prstGeom>
          <a:solidFill>
            <a:srgbClr val="6A1B9A"/>
          </a:solidFill>
          <a:ln w="12700">
            <a:solidFill>
              <a:srgbClr val="6A1B9A"/>
            </a:solidFill>
            <a:prstDash val="solid"/>
          </a:ln>
        </p:spPr>
      </p:sp>
      <p:sp>
        <p:nvSpPr>
          <p:cNvPr id="58" name="Text 56"/>
          <p:cNvSpPr/>
          <p:nvPr/>
        </p:nvSpPr>
        <p:spPr>
          <a:xfrm>
            <a:off x="6327648" y="2011680"/>
            <a:ext cx="265176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Why 11 steps specifically?</a:t>
            </a:r>
            <a:endParaRPr lang="en-US" sz="1100" dirty="0"/>
          </a:p>
        </p:txBody>
      </p:sp>
      <p:sp>
        <p:nvSpPr>
          <p:cNvPr id="59" name="Text 57"/>
          <p:cNvSpPr/>
          <p:nvPr/>
        </p:nvSpPr>
        <p:spPr>
          <a:xfrm>
            <a:off x="6327648" y="2395728"/>
            <a:ext cx="2651760" cy="2331720"/>
          </a:xfrm>
          <a:prstGeom prst="rect">
            <a:avLst/>
          </a:prstGeom>
          <a:noFill/>
          <a:ln/>
        </p:spPr>
        <p:txBody>
          <a:bodyPr wrap="square" rtlCol="0" anchor="t"/>
          <a:lstStyle/>
          <a:p>
            <a:pPr indent="0" marL="0">
              <a:buNone/>
            </a:pPr>
            <a:r>
              <a:rPr lang="en-US" sz="1000" dirty="0">
                <a:solidFill>
                  <a:srgbClr val="CBD5E1"/>
                </a:solidFill>
                <a:latin typeface="Calibri" pitchFamily="34" charset="0"/>
                <a:ea typeface="Calibri" pitchFamily="34" charset="-122"/>
                <a:cs typeface="Calibri" pitchFamily="34" charset="-120"/>
              </a:rPr>
              <a:t>Each step solves one specific real-world problem. Skipping any single step causes a failure in a real classroom scenario. Together they transform a raw, noisy camera frame into clean data the AI can work with accurately.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Preprocessing — Steps 1, 2 &amp; 3</a:t>
            </a:r>
            <a:endParaRPr lang="en-US" sz="2200" dirty="0"/>
          </a:p>
        </p:txBody>
      </p:sp>
      <p:sp>
        <p:nvSpPr>
          <p:cNvPr id="4" name="Text 2"/>
          <p:cNvSpPr/>
          <p:nvPr/>
        </p:nvSpPr>
        <p:spPr>
          <a:xfrm>
            <a:off x="365760" y="640080"/>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Frame capture, colour correction, and spatial resizing</a:t>
            </a:r>
            <a:endParaRPr lang="en-US" sz="1200" dirty="0"/>
          </a:p>
        </p:txBody>
      </p:sp>
      <p:sp>
        <p:nvSpPr>
          <p:cNvPr id="5" name="Shape 3"/>
          <p:cNvSpPr/>
          <p:nvPr/>
        </p:nvSpPr>
        <p:spPr>
          <a:xfrm>
            <a:off x="256032"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256032" y="960120"/>
            <a:ext cx="2834640" cy="347472"/>
          </a:xfrm>
          <a:prstGeom prst="rect">
            <a:avLst/>
          </a:prstGeom>
          <a:solidFill>
            <a:srgbClr val="1565C0"/>
          </a:solidFill>
          <a:ln w="12700">
            <a:solidFill>
              <a:srgbClr val="1565C0"/>
            </a:solidFill>
            <a:prstDash val="solid"/>
          </a:ln>
        </p:spPr>
      </p:sp>
      <p:sp>
        <p:nvSpPr>
          <p:cNvPr id="7" name="Text 5"/>
          <p:cNvSpPr/>
          <p:nvPr/>
        </p:nvSpPr>
        <p:spPr>
          <a:xfrm>
            <a:off x="347472"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1</a:t>
            </a:r>
            <a:endParaRPr lang="en-US" sz="1200" dirty="0"/>
          </a:p>
        </p:txBody>
      </p:sp>
      <p:sp>
        <p:nvSpPr>
          <p:cNvPr id="8" name="Text 6"/>
          <p:cNvSpPr/>
          <p:nvPr/>
        </p:nvSpPr>
        <p:spPr>
          <a:xfrm>
            <a:off x="347472" y="1371600"/>
            <a:ext cx="265176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Raw Frame Capture</a:t>
            </a:r>
            <a:endParaRPr lang="en-US" sz="1300" dirty="0"/>
          </a:p>
        </p:txBody>
      </p:sp>
      <p:sp>
        <p:nvSpPr>
          <p:cNvPr id="9" name="Text 7"/>
          <p:cNvSpPr/>
          <p:nvPr/>
        </p:nvSpPr>
        <p:spPr>
          <a:xfrm>
            <a:off x="347472" y="1691640"/>
            <a:ext cx="2651760" cy="182880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The camera takes 30 photos every second. Each photo is stored as a grid of numbers — each number represents how bright or dark that point in the image is, across three colour channels: Blue, Green, and Red. On Windows, we use a special flag called CAP_DSHOW to fix a bug where the camera shows only black frames.</a:t>
            </a:r>
            <a:endParaRPr lang="en-US" sz="950" dirty="0"/>
          </a:p>
        </p:txBody>
      </p:sp>
      <p:sp>
        <p:nvSpPr>
          <p:cNvPr id="10" name="Shape 8"/>
          <p:cNvSpPr/>
          <p:nvPr/>
        </p:nvSpPr>
        <p:spPr>
          <a:xfrm>
            <a:off x="329184" y="3566160"/>
            <a:ext cx="2697480" cy="1325880"/>
          </a:xfrm>
          <a:prstGeom prst="rect">
            <a:avLst/>
          </a:prstGeom>
          <a:solidFill>
            <a:srgbClr val="EBF5FF"/>
          </a:solidFill>
          <a:ln w="15240">
            <a:solidFill>
              <a:srgbClr val="BBDEFB"/>
            </a:solidFill>
            <a:prstDash val="solid"/>
          </a:ln>
        </p:spPr>
      </p:sp>
      <p:sp>
        <p:nvSpPr>
          <p:cNvPr id="11" name="Text 9"/>
          <p:cNvSpPr/>
          <p:nvPr/>
        </p:nvSpPr>
        <p:spPr>
          <a:xfrm>
            <a:off x="365760" y="3593592"/>
            <a:ext cx="2587752" cy="126187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Think of it like: the camera is giving us a grid of 307,200 pixels, each described by 3 numbers. That is our raw material.</a:t>
            </a:r>
            <a:endParaRPr lang="en-US" sz="900" dirty="0"/>
          </a:p>
        </p:txBody>
      </p:sp>
      <p:sp>
        <p:nvSpPr>
          <p:cNvPr id="12" name="Shape 10"/>
          <p:cNvSpPr/>
          <p:nvPr/>
        </p:nvSpPr>
        <p:spPr>
          <a:xfrm>
            <a:off x="3236976"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3" name="Shape 11"/>
          <p:cNvSpPr/>
          <p:nvPr/>
        </p:nvSpPr>
        <p:spPr>
          <a:xfrm>
            <a:off x="3236976" y="960120"/>
            <a:ext cx="2834640" cy="347472"/>
          </a:xfrm>
          <a:prstGeom prst="rect">
            <a:avLst/>
          </a:prstGeom>
          <a:solidFill>
            <a:srgbClr val="00ACC1"/>
          </a:solidFill>
          <a:ln w="12700">
            <a:solidFill>
              <a:srgbClr val="00ACC1"/>
            </a:solidFill>
            <a:prstDash val="solid"/>
          </a:ln>
        </p:spPr>
      </p:sp>
      <p:sp>
        <p:nvSpPr>
          <p:cNvPr id="14" name="Text 12"/>
          <p:cNvSpPr/>
          <p:nvPr/>
        </p:nvSpPr>
        <p:spPr>
          <a:xfrm>
            <a:off x="3328416"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2</a:t>
            </a:r>
            <a:endParaRPr lang="en-US" sz="1200" dirty="0"/>
          </a:p>
        </p:txBody>
      </p:sp>
      <p:sp>
        <p:nvSpPr>
          <p:cNvPr id="15" name="Text 13"/>
          <p:cNvSpPr/>
          <p:nvPr/>
        </p:nvSpPr>
        <p:spPr>
          <a:xfrm>
            <a:off x="3328416" y="1371600"/>
            <a:ext cx="265176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BGR → RGB Colour Fix</a:t>
            </a:r>
            <a:endParaRPr lang="en-US" sz="1300" dirty="0"/>
          </a:p>
        </p:txBody>
      </p:sp>
      <p:sp>
        <p:nvSpPr>
          <p:cNvPr id="16" name="Text 14"/>
          <p:cNvSpPr/>
          <p:nvPr/>
        </p:nvSpPr>
        <p:spPr>
          <a:xfrm>
            <a:off x="3328416" y="1691640"/>
            <a:ext cx="2651760" cy="182880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OpenCV (our camera library) stores colours in the wrong order — Blue, Green, Red (BGR). But our AI model was trained on images in Red, Green, Blue (RGB) order. If we skip this step, every pixel's red and blue are swapped — skin tones look wrong and the AI completely fails to recognise anyone.</a:t>
            </a:r>
            <a:endParaRPr lang="en-US" sz="950" dirty="0"/>
          </a:p>
        </p:txBody>
      </p:sp>
      <p:sp>
        <p:nvSpPr>
          <p:cNvPr id="17" name="Shape 15"/>
          <p:cNvSpPr/>
          <p:nvPr/>
        </p:nvSpPr>
        <p:spPr>
          <a:xfrm>
            <a:off x="3310128" y="3566160"/>
            <a:ext cx="2697480" cy="1325880"/>
          </a:xfrm>
          <a:prstGeom prst="rect">
            <a:avLst/>
          </a:prstGeom>
          <a:solidFill>
            <a:srgbClr val="EBF5FF"/>
          </a:solidFill>
          <a:ln w="15240">
            <a:solidFill>
              <a:srgbClr val="BBDEFB"/>
            </a:solidFill>
            <a:prstDash val="solid"/>
          </a:ln>
        </p:spPr>
      </p:sp>
      <p:sp>
        <p:nvSpPr>
          <p:cNvPr id="18" name="Text 16"/>
          <p:cNvSpPr/>
          <p:nvPr/>
        </p:nvSpPr>
        <p:spPr>
          <a:xfrm>
            <a:off x="3346704" y="3593592"/>
            <a:ext cx="2587752" cy="126187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Simple fix: cv2.cvtColor(frame, cv2.COLOR_BGR2RGB) — one line of code, but skipping it breaks the entire system.</a:t>
            </a:r>
            <a:endParaRPr lang="en-US" sz="900" dirty="0"/>
          </a:p>
        </p:txBody>
      </p:sp>
      <p:sp>
        <p:nvSpPr>
          <p:cNvPr id="19" name="Shape 17"/>
          <p:cNvSpPr/>
          <p:nvPr/>
        </p:nvSpPr>
        <p:spPr>
          <a:xfrm>
            <a:off x="6217920"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6217920" y="960120"/>
            <a:ext cx="2834640" cy="347472"/>
          </a:xfrm>
          <a:prstGeom prst="rect">
            <a:avLst/>
          </a:prstGeom>
          <a:solidFill>
            <a:srgbClr val="E65100"/>
          </a:solidFill>
          <a:ln w="12700">
            <a:solidFill>
              <a:srgbClr val="E65100"/>
            </a:solidFill>
            <a:prstDash val="solid"/>
          </a:ln>
        </p:spPr>
      </p:sp>
      <p:sp>
        <p:nvSpPr>
          <p:cNvPr id="21" name="Text 19"/>
          <p:cNvSpPr/>
          <p:nvPr/>
        </p:nvSpPr>
        <p:spPr>
          <a:xfrm>
            <a:off x="6309360"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3</a:t>
            </a:r>
            <a:endParaRPr lang="en-US" sz="1200" dirty="0"/>
          </a:p>
        </p:txBody>
      </p:sp>
      <p:sp>
        <p:nvSpPr>
          <p:cNvPr id="22" name="Text 20"/>
          <p:cNvSpPr/>
          <p:nvPr/>
        </p:nvSpPr>
        <p:spPr>
          <a:xfrm>
            <a:off x="6309360" y="1371600"/>
            <a:ext cx="2651760"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Resize to 25%</a:t>
            </a:r>
            <a:endParaRPr lang="en-US" sz="1300" dirty="0"/>
          </a:p>
        </p:txBody>
      </p:sp>
      <p:sp>
        <p:nvSpPr>
          <p:cNvPr id="23" name="Text 21"/>
          <p:cNvSpPr/>
          <p:nvPr/>
        </p:nvSpPr>
        <p:spPr>
          <a:xfrm>
            <a:off x="6309360" y="1691640"/>
            <a:ext cx="2651760" cy="182880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Finding a face in an image means scanning every part of it — thousands of positions. On a full-size camera image this takes too long — the system would lag. We shrink the image to 25% of its original size, reducing the number of pixels by 94%, making the scan fast enough to run 30 times per second on a regular laptop.</a:t>
            </a:r>
            <a:endParaRPr lang="en-US" sz="950" dirty="0"/>
          </a:p>
        </p:txBody>
      </p:sp>
      <p:sp>
        <p:nvSpPr>
          <p:cNvPr id="24" name="Shape 22"/>
          <p:cNvSpPr/>
          <p:nvPr/>
        </p:nvSpPr>
        <p:spPr>
          <a:xfrm>
            <a:off x="6291072" y="3566160"/>
            <a:ext cx="2697480" cy="1325880"/>
          </a:xfrm>
          <a:prstGeom prst="rect">
            <a:avLst/>
          </a:prstGeom>
          <a:solidFill>
            <a:srgbClr val="EBF5FF"/>
          </a:solidFill>
          <a:ln w="15240">
            <a:solidFill>
              <a:srgbClr val="BBDEFB"/>
            </a:solidFill>
            <a:prstDash val="solid"/>
          </a:ln>
        </p:spPr>
      </p:sp>
      <p:sp>
        <p:nvSpPr>
          <p:cNvPr id="25" name="Text 23"/>
          <p:cNvSpPr/>
          <p:nvPr/>
        </p:nvSpPr>
        <p:spPr>
          <a:xfrm>
            <a:off x="6327648" y="3593592"/>
            <a:ext cx="2587752" cy="126187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After detection, we multiply the face coordinates by 4 to get the position back on the original full-size image.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Preprocessing — Steps 4 &amp; 5</a:t>
            </a:r>
            <a:endParaRPr lang="en-US" sz="2200" dirty="0"/>
          </a:p>
        </p:txBody>
      </p:sp>
      <p:sp>
        <p:nvSpPr>
          <p:cNvPr id="4" name="Text 2"/>
          <p:cNvSpPr/>
          <p:nvPr/>
        </p:nvSpPr>
        <p:spPr>
          <a:xfrm>
            <a:off x="365760" y="640080"/>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Grayscale conversion and CLAHE lighting normalisation</a:t>
            </a:r>
            <a:endParaRPr lang="en-US" sz="1200" dirty="0"/>
          </a:p>
        </p:txBody>
      </p:sp>
      <p:sp>
        <p:nvSpPr>
          <p:cNvPr id="5" name="Shape 3"/>
          <p:cNvSpPr/>
          <p:nvPr/>
        </p:nvSpPr>
        <p:spPr>
          <a:xfrm>
            <a:off x="274320" y="960120"/>
            <a:ext cx="393192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274320" y="960120"/>
            <a:ext cx="3931920" cy="347472"/>
          </a:xfrm>
          <a:prstGeom prst="rect">
            <a:avLst/>
          </a:prstGeom>
          <a:solidFill>
            <a:srgbClr val="00ACC1"/>
          </a:solidFill>
          <a:ln w="12700">
            <a:solidFill>
              <a:srgbClr val="00ACC1"/>
            </a:solidFill>
            <a:prstDash val="solid"/>
          </a:ln>
        </p:spPr>
      </p:sp>
      <p:sp>
        <p:nvSpPr>
          <p:cNvPr id="7" name="Text 5"/>
          <p:cNvSpPr/>
          <p:nvPr/>
        </p:nvSpPr>
        <p:spPr>
          <a:xfrm>
            <a:off x="347472" y="978408"/>
            <a:ext cx="3794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4 — Grayscale Conversion</a:t>
            </a:r>
            <a:endParaRPr lang="en-US" sz="1200" dirty="0"/>
          </a:p>
        </p:txBody>
      </p:sp>
      <p:sp>
        <p:nvSpPr>
          <p:cNvPr id="8" name="Text 6"/>
          <p:cNvSpPr/>
          <p:nvPr/>
        </p:nvSpPr>
        <p:spPr>
          <a:xfrm>
            <a:off x="365760" y="1389888"/>
            <a:ext cx="3749040" cy="1005840"/>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The face detection step (HOG) only cares about brightness changes — not colour. Converting to grayscale removes the three colour channels and keeps only brightness, making computation three times faster.</a:t>
            </a:r>
            <a:endParaRPr lang="en-US" sz="1050" dirty="0"/>
          </a:p>
        </p:txBody>
      </p:sp>
      <p:sp>
        <p:nvSpPr>
          <p:cNvPr id="9" name="Shape 7"/>
          <p:cNvSpPr/>
          <p:nvPr/>
        </p:nvSpPr>
        <p:spPr>
          <a:xfrm>
            <a:off x="347472" y="2450592"/>
            <a:ext cx="3794760" cy="566928"/>
          </a:xfrm>
          <a:prstGeom prst="rect">
            <a:avLst/>
          </a:prstGeom>
          <a:solidFill>
            <a:srgbClr val="E3F2FD"/>
          </a:solidFill>
          <a:ln w="15240">
            <a:solidFill>
              <a:srgbClr val="90CAF9"/>
            </a:solidFill>
            <a:prstDash val="solid"/>
          </a:ln>
        </p:spPr>
      </p:sp>
      <p:sp>
        <p:nvSpPr>
          <p:cNvPr id="10" name="Text 8"/>
          <p:cNvSpPr/>
          <p:nvPr/>
        </p:nvSpPr>
        <p:spPr>
          <a:xfrm>
            <a:off x="384048" y="2487168"/>
            <a:ext cx="3721608" cy="274320"/>
          </a:xfrm>
          <a:prstGeom prst="rect">
            <a:avLst/>
          </a:prstGeom>
          <a:noFill/>
          <a:ln/>
        </p:spPr>
        <p:txBody>
          <a:bodyPr wrap="square" rtlCol="0" anchor="ctr"/>
          <a:lstStyle/>
          <a:p>
            <a:pPr algn="ctr" indent="0" marL="0">
              <a:buNone/>
            </a:pPr>
            <a:r>
              <a:rPr lang="en-US" sz="1050" b="1" dirty="0">
                <a:solidFill>
                  <a:srgbClr val="0B1F45"/>
                </a:solidFill>
                <a:latin typeface="Calibri" pitchFamily="34" charset="0"/>
                <a:ea typeface="Calibri" pitchFamily="34" charset="-122"/>
                <a:cs typeface="Calibri" pitchFamily="34" charset="-120"/>
              </a:rPr>
              <a:t>Formula:  Gray = 0.299×R  +  0.587×G  +  0.114×B</a:t>
            </a:r>
            <a:endParaRPr lang="en-US" sz="1050" dirty="0"/>
          </a:p>
        </p:txBody>
      </p:sp>
      <p:sp>
        <p:nvSpPr>
          <p:cNvPr id="11" name="Text 9"/>
          <p:cNvSpPr/>
          <p:nvPr/>
        </p:nvSpPr>
        <p:spPr>
          <a:xfrm>
            <a:off x="384048" y="2779776"/>
            <a:ext cx="3721608" cy="201168"/>
          </a:xfrm>
          <a:prstGeom prst="rect">
            <a:avLst/>
          </a:prstGeom>
          <a:noFill/>
          <a:ln/>
        </p:spPr>
        <p:txBody>
          <a:bodyPr wrap="square" rtlCol="0" anchor="ctr"/>
          <a:lstStyle/>
          <a:p>
            <a:pPr algn="ctr" indent="0" marL="0">
              <a:buNone/>
            </a:pPr>
            <a:r>
              <a:rPr lang="en-US" sz="900" dirty="0">
                <a:solidFill>
                  <a:srgbClr val="263238"/>
                </a:solidFill>
                <a:latin typeface="Calibri" pitchFamily="34" charset="0"/>
                <a:ea typeface="Calibri" pitchFamily="34" charset="-122"/>
                <a:cs typeface="Calibri" pitchFamily="34" charset="-120"/>
              </a:rPr>
              <a:t>Green gets highest weight (0.587) because the human eye is most sensitive to green light.</a:t>
            </a:r>
            <a:endParaRPr lang="en-US" sz="900" dirty="0"/>
          </a:p>
        </p:txBody>
      </p:sp>
      <p:sp>
        <p:nvSpPr>
          <p:cNvPr id="12" name="Shape 10"/>
          <p:cNvSpPr/>
          <p:nvPr/>
        </p:nvSpPr>
        <p:spPr>
          <a:xfrm>
            <a:off x="347472" y="3063240"/>
            <a:ext cx="3794760" cy="1810512"/>
          </a:xfrm>
          <a:prstGeom prst="rect">
            <a:avLst/>
          </a:prstGeom>
          <a:solidFill>
            <a:srgbClr val="EBF5FF"/>
          </a:solidFill>
          <a:ln w="15240">
            <a:solidFill>
              <a:srgbClr val="BBDEFB"/>
            </a:solidFill>
            <a:prstDash val="solid"/>
          </a:ln>
        </p:spPr>
      </p:sp>
      <p:sp>
        <p:nvSpPr>
          <p:cNvPr id="13" name="Text 11"/>
          <p:cNvSpPr/>
          <p:nvPr/>
        </p:nvSpPr>
        <p:spPr>
          <a:xfrm>
            <a:off x="384048" y="3090672"/>
            <a:ext cx="3721608" cy="1737360"/>
          </a:xfrm>
          <a:prstGeom prst="rect">
            <a:avLst/>
          </a:prstGeom>
          <a:noFill/>
          <a:ln/>
        </p:spPr>
        <p:txBody>
          <a:bodyPr wrap="square" rtlCol="0" anchor="ctr"/>
          <a:lstStyle/>
          <a:p>
            <a:pPr indent="0" marL="0">
              <a:buNone/>
            </a:pPr>
            <a:r>
              <a:rPr lang="en-US" sz="950" i="1" dirty="0">
                <a:solidFill>
                  <a:srgbClr val="1565C0"/>
                </a:solidFill>
                <a:latin typeface="Calibri" pitchFamily="34" charset="0"/>
                <a:ea typeface="Calibri" pitchFamily="34" charset="-122"/>
                <a:cs typeface="Calibri" pitchFamily="34" charset="-120"/>
              </a:rPr>
              <a:t>💡 Simple explanation:</a:t>
            </a:r>
            <a:endParaRPr lang="en-US" sz="950" dirty="0"/>
          </a:p>
          <a:p>
            <a:pPr indent="0" marL="0">
              <a:buNone/>
            </a:pPr>
            <a:r>
              <a:rPr lang="en-US" sz="950" i="1" dirty="0">
                <a:solidFill>
                  <a:srgbClr val="1565C0"/>
                </a:solidFill>
                <a:latin typeface="Calibri" pitchFamily="34" charset="0"/>
                <a:ea typeface="Calibri" pitchFamily="34" charset="-122"/>
                <a:cs typeface="Calibri" pitchFamily="34" charset="-120"/>
              </a:rPr>
              <a:t>It is like changing a colour photo to black and white. HOG doesn't need colour — it only needs to see where edges and shapes are. Grayscale gives it exactly that, and runs 3× faster.</a:t>
            </a:r>
            <a:endParaRPr lang="en-US" sz="950" dirty="0"/>
          </a:p>
        </p:txBody>
      </p:sp>
      <p:sp>
        <p:nvSpPr>
          <p:cNvPr id="14" name="Shape 12"/>
          <p:cNvSpPr/>
          <p:nvPr/>
        </p:nvSpPr>
        <p:spPr>
          <a:xfrm>
            <a:off x="4480560" y="960120"/>
            <a:ext cx="438912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4480560" y="960120"/>
            <a:ext cx="4389120" cy="347472"/>
          </a:xfrm>
          <a:prstGeom prst="rect">
            <a:avLst/>
          </a:prstGeom>
          <a:solidFill>
            <a:srgbClr val="E65100"/>
          </a:solidFill>
          <a:ln w="12700">
            <a:solidFill>
              <a:srgbClr val="E65100"/>
            </a:solidFill>
            <a:prstDash val="solid"/>
          </a:ln>
        </p:spPr>
      </p:sp>
      <p:sp>
        <p:nvSpPr>
          <p:cNvPr id="16" name="Text 14"/>
          <p:cNvSpPr/>
          <p:nvPr/>
        </p:nvSpPr>
        <p:spPr>
          <a:xfrm>
            <a:off x="4553712" y="978408"/>
            <a:ext cx="42519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5 — CLAHE Lighting Fix</a:t>
            </a:r>
            <a:endParaRPr lang="en-US" sz="1200" dirty="0"/>
          </a:p>
        </p:txBody>
      </p:sp>
      <p:sp>
        <p:nvSpPr>
          <p:cNvPr id="17" name="Text 15"/>
          <p:cNvSpPr/>
          <p:nvPr/>
        </p:nvSpPr>
        <p:spPr>
          <a:xfrm>
            <a:off x="4572000" y="1389888"/>
            <a:ext cx="4206240" cy="914400"/>
          </a:xfrm>
          <a:prstGeom prst="rect">
            <a:avLst/>
          </a:prstGeom>
          <a:noFill/>
          <a:ln/>
        </p:spPr>
        <p:txBody>
          <a:bodyPr wrap="square" rtlCol="0" anchor="ctr"/>
          <a:lstStyle/>
          <a:p>
            <a:pPr indent="0" marL="0">
              <a:buNone/>
            </a:pPr>
            <a:r>
              <a:rPr lang="en-US" sz="1050" dirty="0">
                <a:solidFill>
                  <a:srgbClr val="263238"/>
                </a:solidFill>
                <a:latin typeface="Calibri" pitchFamily="34" charset="0"/>
                <a:ea typeface="Calibri" pitchFamily="34" charset="-122"/>
                <a:cs typeface="Calibri" pitchFamily="34" charset="-120"/>
              </a:rPr>
              <a:t>CLAHE stands for Contrast Limited Adaptive Histogram Equalization. It fixes uneven brightness in the image — brightening dark faces and calming down over-bright areas — so every face is clearly visible to the detector.</a:t>
            </a:r>
            <a:endParaRPr lang="en-US" sz="10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480560" y="2359152"/>
          <a:ext cx="4389120" cy="914400"/>
        </p:xfrm>
        <a:graphic>
          <a:graphicData uri="http://schemas.openxmlformats.org/drawingml/2006/table">
            <a:tbl>
              <a:tblPr/>
              <a:tblGrid>
                <a:gridCol w="1554480"/>
                <a:gridCol w="1463040"/>
                <a:gridCol w="1371600"/>
              </a:tblGrid>
              <a:tr h="228600">
                <a:tc>
                  <a:txBody>
                    <a:bodyPr/>
                    <a:lstStyle/>
                    <a:p>
                      <a:pPr indent="0" marL="0">
                        <a:buNone/>
                      </a:pPr>
                      <a:r>
                        <a:rPr lang="en-US" sz="1000" b="1" dirty="0">
                          <a:solidFill>
                            <a:srgbClr val="FFFFFF"/>
                          </a:solidFill>
                        </a:rPr>
                        <a:t>LAB Channel</a:t>
                      </a:r>
                      <a:endParaRPr lang="en-US" sz="100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c>
                  <a:txBody>
                    <a:bodyPr/>
                    <a:lstStyle/>
                    <a:p>
                      <a:pPr indent="0" marL="0">
                        <a:buNone/>
                      </a:pPr>
                      <a:r>
                        <a:rPr lang="en-US" sz="1000" b="1" dirty="0">
                          <a:solidFill>
                            <a:srgbClr val="FFFFFF"/>
                          </a:solidFill>
                        </a:rPr>
                        <a:t>Meaning</a:t>
                      </a:r>
                      <a:endParaRPr lang="en-US" sz="100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c>
                  <a:txBody>
                    <a:bodyPr/>
                    <a:lstStyle/>
                    <a:p>
                      <a:pPr indent="0" marL="0">
                        <a:buNone/>
                      </a:pPr>
                      <a:r>
                        <a:rPr lang="en-US" sz="1000" b="1" dirty="0">
                          <a:solidFill>
                            <a:srgbClr val="FFFFFF"/>
                          </a:solidFill>
                        </a:rPr>
                        <a:t>CLAHE Action</a:t>
                      </a:r>
                      <a:endParaRPr lang="en-US" sz="100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r>
              <a:tr h="228600">
                <a:tc>
                  <a:txBody>
                    <a:bodyPr/>
                    <a:lstStyle/>
                    <a:p>
                      <a:pPr indent="0" marL="0">
                        <a:buNone/>
                      </a:pPr>
                      <a:r>
                        <a:rPr lang="en-US" sz="950" dirty="0">
                          <a:solidFill>
                            <a:srgbClr val="000000"/>
                          </a:solidFill>
                        </a:rPr>
                        <a:t>L — Lightness</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How bright/dark</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b="1" dirty="0">
                          <a:solidFill>
                            <a:srgbClr val="E65100"/>
                          </a:solidFill>
                        </a:rPr>
                        <a:t>✏️ We fix this</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r h="228600">
                <a:tc>
                  <a:txBody>
                    <a:bodyPr/>
                    <a:lstStyle/>
                    <a:p>
                      <a:pPr indent="0" marL="0">
                        <a:buNone/>
                      </a:pPr>
                      <a:r>
                        <a:rPr lang="en-US" sz="950" dirty="0">
                          <a:solidFill>
                            <a:srgbClr val="000000"/>
                          </a:solidFill>
                        </a:rPr>
                        <a:t>A — Colour</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Green ↔ Red</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2E7D32"/>
                          </a:solidFill>
                        </a:rPr>
                        <a:t>Untouched</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r h="228600">
                <a:tc>
                  <a:txBody>
                    <a:bodyPr/>
                    <a:lstStyle/>
                    <a:p>
                      <a:pPr indent="0" marL="0">
                        <a:buNone/>
                      </a:pPr>
                      <a:r>
                        <a:rPr lang="en-US" sz="950" dirty="0">
                          <a:solidFill>
                            <a:srgbClr val="000000"/>
                          </a:solidFill>
                        </a:rPr>
                        <a:t>B — Colour</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Blue ↔ Yellow</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2E7D32"/>
                          </a:solidFill>
                        </a:rPr>
                        <a:t>Untouched</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bl>
          </a:graphicData>
        </a:graphic>
      </p:graphicFrame>
      <p:sp>
        <p:nvSpPr>
          <p:cNvPr id="19" name="Shape 16"/>
          <p:cNvSpPr/>
          <p:nvPr/>
        </p:nvSpPr>
        <p:spPr>
          <a:xfrm>
            <a:off x="4480560" y="3328416"/>
            <a:ext cx="4389120" cy="1673352"/>
          </a:xfrm>
          <a:prstGeom prst="rect">
            <a:avLst/>
          </a:prstGeom>
          <a:solidFill>
            <a:srgbClr val="FFF3E0"/>
          </a:solidFill>
          <a:ln w="15240">
            <a:solidFill>
              <a:srgbClr val="FFCCBC"/>
            </a:solidFill>
            <a:prstDash val="solid"/>
          </a:ln>
        </p:spPr>
      </p:sp>
      <p:sp>
        <p:nvSpPr>
          <p:cNvPr id="20" name="Text 17"/>
          <p:cNvSpPr/>
          <p:nvPr/>
        </p:nvSpPr>
        <p:spPr>
          <a:xfrm>
            <a:off x="4572000" y="3364992"/>
            <a:ext cx="4206240" cy="256032"/>
          </a:xfrm>
          <a:prstGeom prst="rect">
            <a:avLst/>
          </a:prstGeom>
          <a:noFill/>
          <a:ln/>
        </p:spPr>
        <p:txBody>
          <a:bodyPr wrap="square" rtlCol="0" anchor="ctr"/>
          <a:lstStyle/>
          <a:p>
            <a:pPr indent="0" marL="0">
              <a:buNone/>
            </a:pPr>
            <a:r>
              <a:rPr lang="en-US" sz="1100" b="1" dirty="0">
                <a:solidFill>
                  <a:srgbClr val="E65100"/>
                </a:solidFill>
                <a:latin typeface="Calibri" pitchFamily="34" charset="0"/>
                <a:ea typeface="Calibri" pitchFamily="34" charset="-122"/>
                <a:cs typeface="Calibri" pitchFamily="34" charset="-120"/>
              </a:rPr>
              <a:t>Why this matters for KDU lecture halls:</a:t>
            </a:r>
            <a:endParaRPr lang="en-US" sz="1100" dirty="0"/>
          </a:p>
        </p:txBody>
      </p:sp>
      <p:sp>
        <p:nvSpPr>
          <p:cNvPr id="21" name="Shape 18"/>
          <p:cNvSpPr/>
          <p:nvPr/>
        </p:nvSpPr>
        <p:spPr>
          <a:xfrm>
            <a:off x="4617720" y="3721608"/>
            <a:ext cx="118872" cy="118872"/>
          </a:xfrm>
          <a:prstGeom prst="rect">
            <a:avLst/>
          </a:prstGeom>
          <a:solidFill>
            <a:srgbClr val="E65100"/>
          </a:solidFill>
          <a:ln w="12700">
            <a:solidFill>
              <a:srgbClr val="E65100"/>
            </a:solidFill>
            <a:prstDash val="solid"/>
          </a:ln>
        </p:spPr>
      </p:sp>
      <p:sp>
        <p:nvSpPr>
          <p:cNvPr id="22" name="Text 19"/>
          <p:cNvSpPr/>
          <p:nvPr/>
        </p:nvSpPr>
        <p:spPr>
          <a:xfrm>
            <a:off x="4800600" y="3657600"/>
            <a:ext cx="3977640" cy="256032"/>
          </a:xfrm>
          <a:prstGeom prst="rect">
            <a:avLst/>
          </a:prstGeom>
          <a:noFill/>
          <a:ln/>
        </p:spPr>
        <p:txBody>
          <a:bodyPr wrap="square" rtlCol="0" anchor="ctr"/>
          <a:lstStyle/>
          <a:p>
            <a:pPr indent="0" marL="0">
              <a:buNone/>
            </a:pPr>
            <a:r>
              <a:rPr lang="en-US" sz="1000" dirty="0">
                <a:solidFill>
                  <a:srgbClr val="263238"/>
                </a:solidFill>
                <a:latin typeface="Calibri" pitchFamily="34" charset="0"/>
                <a:ea typeface="Calibri" pitchFamily="34" charset="-122"/>
                <a:cs typeface="Calibri" pitchFamily="34" charset="-120"/>
              </a:rPr>
              <a:t>Ceiling lights create harsh shadows on faces from above</a:t>
            </a:r>
            <a:endParaRPr lang="en-US" sz="1000" dirty="0"/>
          </a:p>
        </p:txBody>
      </p:sp>
      <p:sp>
        <p:nvSpPr>
          <p:cNvPr id="23" name="Shape 20"/>
          <p:cNvSpPr/>
          <p:nvPr/>
        </p:nvSpPr>
        <p:spPr>
          <a:xfrm>
            <a:off x="4617720" y="4014216"/>
            <a:ext cx="118872" cy="118872"/>
          </a:xfrm>
          <a:prstGeom prst="rect">
            <a:avLst/>
          </a:prstGeom>
          <a:solidFill>
            <a:srgbClr val="E65100"/>
          </a:solidFill>
          <a:ln w="12700">
            <a:solidFill>
              <a:srgbClr val="E65100"/>
            </a:solidFill>
            <a:prstDash val="solid"/>
          </a:ln>
        </p:spPr>
      </p:sp>
      <p:sp>
        <p:nvSpPr>
          <p:cNvPr id="24" name="Text 21"/>
          <p:cNvSpPr/>
          <p:nvPr/>
        </p:nvSpPr>
        <p:spPr>
          <a:xfrm>
            <a:off x="4800600" y="3950208"/>
            <a:ext cx="3977640" cy="256032"/>
          </a:xfrm>
          <a:prstGeom prst="rect">
            <a:avLst/>
          </a:prstGeom>
          <a:noFill/>
          <a:ln/>
        </p:spPr>
        <p:txBody>
          <a:bodyPr wrap="square" rtlCol="0" anchor="ctr"/>
          <a:lstStyle/>
          <a:p>
            <a:pPr indent="0" marL="0">
              <a:buNone/>
            </a:pPr>
            <a:r>
              <a:rPr lang="en-US" sz="1000" dirty="0">
                <a:solidFill>
                  <a:srgbClr val="263238"/>
                </a:solidFill>
                <a:latin typeface="Calibri" pitchFamily="34" charset="0"/>
                <a:ea typeface="Calibri" pitchFamily="34" charset="-122"/>
                <a:cs typeface="Calibri" pitchFamily="34" charset="-120"/>
              </a:rPr>
              <a:t>Students near windows are backlit — faces appear dark</a:t>
            </a:r>
            <a:endParaRPr lang="en-US" sz="1000" dirty="0"/>
          </a:p>
        </p:txBody>
      </p:sp>
      <p:sp>
        <p:nvSpPr>
          <p:cNvPr id="25" name="Shape 22"/>
          <p:cNvSpPr/>
          <p:nvPr/>
        </p:nvSpPr>
        <p:spPr>
          <a:xfrm>
            <a:off x="4617720" y="4306824"/>
            <a:ext cx="118872" cy="118872"/>
          </a:xfrm>
          <a:prstGeom prst="rect">
            <a:avLst/>
          </a:prstGeom>
          <a:solidFill>
            <a:srgbClr val="E65100"/>
          </a:solidFill>
          <a:ln w="12700">
            <a:solidFill>
              <a:srgbClr val="E65100"/>
            </a:solidFill>
            <a:prstDash val="solid"/>
          </a:ln>
        </p:spPr>
      </p:sp>
      <p:sp>
        <p:nvSpPr>
          <p:cNvPr id="26" name="Text 23"/>
          <p:cNvSpPr/>
          <p:nvPr/>
        </p:nvSpPr>
        <p:spPr>
          <a:xfrm>
            <a:off x="4800600" y="4242816"/>
            <a:ext cx="3977640" cy="256032"/>
          </a:xfrm>
          <a:prstGeom prst="rect">
            <a:avLst/>
          </a:prstGeom>
          <a:noFill/>
          <a:ln/>
        </p:spPr>
        <p:txBody>
          <a:bodyPr wrap="square" rtlCol="0" anchor="ctr"/>
          <a:lstStyle/>
          <a:p>
            <a:pPr indent="0" marL="0">
              <a:buNone/>
            </a:pPr>
            <a:r>
              <a:rPr lang="en-US" sz="1000" dirty="0">
                <a:solidFill>
                  <a:srgbClr val="263238"/>
                </a:solidFill>
                <a:latin typeface="Calibri" pitchFamily="34" charset="0"/>
                <a:ea typeface="Calibri" pitchFamily="34" charset="-122"/>
                <a:cs typeface="Calibri" pitchFamily="34" charset="-120"/>
              </a:rPr>
              <a:t>Without CLAHE, HOG detection misses these faces entirely</a:t>
            </a:r>
            <a:endParaRPr lang="en-US" sz="1000" dirty="0"/>
          </a:p>
        </p:txBody>
      </p:sp>
      <p:sp>
        <p:nvSpPr>
          <p:cNvPr id="27" name="Shape 24"/>
          <p:cNvSpPr/>
          <p:nvPr/>
        </p:nvSpPr>
        <p:spPr>
          <a:xfrm>
            <a:off x="4617720" y="4599432"/>
            <a:ext cx="118872" cy="118872"/>
          </a:xfrm>
          <a:prstGeom prst="rect">
            <a:avLst/>
          </a:prstGeom>
          <a:solidFill>
            <a:srgbClr val="E65100"/>
          </a:solidFill>
          <a:ln w="12700">
            <a:solidFill>
              <a:srgbClr val="E65100"/>
            </a:solidFill>
            <a:prstDash val="solid"/>
          </a:ln>
        </p:spPr>
      </p:sp>
      <p:sp>
        <p:nvSpPr>
          <p:cNvPr id="28" name="Text 25"/>
          <p:cNvSpPr/>
          <p:nvPr/>
        </p:nvSpPr>
        <p:spPr>
          <a:xfrm>
            <a:off x="4800600" y="4535424"/>
            <a:ext cx="3977640" cy="256032"/>
          </a:xfrm>
          <a:prstGeom prst="rect">
            <a:avLst/>
          </a:prstGeom>
          <a:noFill/>
          <a:ln/>
        </p:spPr>
        <p:txBody>
          <a:bodyPr wrap="square" rtlCol="0" anchor="ctr"/>
          <a:lstStyle/>
          <a:p>
            <a:pPr indent="0" marL="0">
              <a:buNone/>
            </a:pPr>
            <a:r>
              <a:rPr lang="en-US" sz="1000" dirty="0">
                <a:solidFill>
                  <a:srgbClr val="263238"/>
                </a:solidFill>
                <a:latin typeface="Calibri" pitchFamily="34" charset="0"/>
                <a:ea typeface="Calibri" pitchFamily="34" charset="-122"/>
                <a:cs typeface="Calibri" pitchFamily="34" charset="-120"/>
              </a:rPr>
              <a:t>CLAHE fixes each small area of the image separately — not globally</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Preprocessing — Steps 6, 7 &amp; 8</a:t>
            </a:r>
            <a:endParaRPr lang="en-US" sz="2200" dirty="0"/>
          </a:p>
        </p:txBody>
      </p:sp>
      <p:sp>
        <p:nvSpPr>
          <p:cNvPr id="4" name="Text 2"/>
          <p:cNvSpPr/>
          <p:nvPr/>
        </p:nvSpPr>
        <p:spPr>
          <a:xfrm>
            <a:off x="365760" y="640080"/>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Noise removal, face detection, and face cropping</a:t>
            </a:r>
            <a:endParaRPr lang="en-US" sz="1200" dirty="0"/>
          </a:p>
        </p:txBody>
      </p:sp>
      <p:sp>
        <p:nvSpPr>
          <p:cNvPr id="5" name="Shape 3"/>
          <p:cNvSpPr/>
          <p:nvPr/>
        </p:nvSpPr>
        <p:spPr>
          <a:xfrm>
            <a:off x="256032"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256032" y="960120"/>
            <a:ext cx="2834640" cy="347472"/>
          </a:xfrm>
          <a:prstGeom prst="rect">
            <a:avLst/>
          </a:prstGeom>
          <a:solidFill>
            <a:srgbClr val="1565C0"/>
          </a:solidFill>
          <a:ln w="12700">
            <a:solidFill>
              <a:srgbClr val="1565C0"/>
            </a:solidFill>
            <a:prstDash val="solid"/>
          </a:ln>
        </p:spPr>
      </p:sp>
      <p:sp>
        <p:nvSpPr>
          <p:cNvPr id="7" name="Text 5"/>
          <p:cNvSpPr/>
          <p:nvPr/>
        </p:nvSpPr>
        <p:spPr>
          <a:xfrm>
            <a:off x="347472"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6</a:t>
            </a:r>
            <a:endParaRPr lang="en-US" sz="1200" dirty="0"/>
          </a:p>
        </p:txBody>
      </p:sp>
      <p:sp>
        <p:nvSpPr>
          <p:cNvPr id="8" name="Text 6"/>
          <p:cNvSpPr/>
          <p:nvPr/>
        </p:nvSpPr>
        <p:spPr>
          <a:xfrm>
            <a:off x="347472"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Gaussian Blur — Noise Removal</a:t>
            </a:r>
            <a:endParaRPr lang="en-US" sz="1200" dirty="0"/>
          </a:p>
        </p:txBody>
      </p:sp>
      <p:sp>
        <p:nvSpPr>
          <p:cNvPr id="9" name="Text 7"/>
          <p:cNvSpPr/>
          <p:nvPr/>
        </p:nvSpPr>
        <p:spPr>
          <a:xfrm>
            <a:off x="347472"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Camera sensors add tiny random errors to every pixel — a pixel that should be 120 reads as 117 or 124 randomly. These random variations create fake edges that confuse the face detector. Gaussian Blur smooths these out by averaging each pixel with its neighbours using a bell-curve weight pattern.</a:t>
            </a:r>
            <a:endParaRPr lang="en-US" sz="950" dirty="0"/>
          </a:p>
        </p:txBody>
      </p:sp>
      <p:sp>
        <p:nvSpPr>
          <p:cNvPr id="10" name="Shape 8"/>
          <p:cNvSpPr/>
          <p:nvPr/>
        </p:nvSpPr>
        <p:spPr>
          <a:xfrm>
            <a:off x="329184" y="3611880"/>
            <a:ext cx="2697480" cy="1280160"/>
          </a:xfrm>
          <a:prstGeom prst="rect">
            <a:avLst/>
          </a:prstGeom>
          <a:solidFill>
            <a:srgbClr val="EBF5FF"/>
          </a:solidFill>
          <a:ln w="15240">
            <a:solidFill>
              <a:srgbClr val="BBDEFB"/>
            </a:solidFill>
            <a:prstDash val="solid"/>
          </a:ln>
        </p:spPr>
      </p:sp>
      <p:sp>
        <p:nvSpPr>
          <p:cNvPr id="11" name="Text 9"/>
          <p:cNvSpPr/>
          <p:nvPr/>
        </p:nvSpPr>
        <p:spPr>
          <a:xfrm>
            <a:off x="365760"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Think of it like slightly defocusing a photo to remove the grain. Real face edges span many pixels and survive the blur. Random noise dots are averaged away.</a:t>
            </a:r>
            <a:endParaRPr lang="en-US" sz="900" dirty="0"/>
          </a:p>
        </p:txBody>
      </p:sp>
      <p:sp>
        <p:nvSpPr>
          <p:cNvPr id="12" name="Shape 10"/>
          <p:cNvSpPr/>
          <p:nvPr/>
        </p:nvSpPr>
        <p:spPr>
          <a:xfrm>
            <a:off x="3236976"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3" name="Shape 11"/>
          <p:cNvSpPr/>
          <p:nvPr/>
        </p:nvSpPr>
        <p:spPr>
          <a:xfrm>
            <a:off x="3236976" y="960120"/>
            <a:ext cx="2834640" cy="347472"/>
          </a:xfrm>
          <a:prstGeom prst="rect">
            <a:avLst/>
          </a:prstGeom>
          <a:solidFill>
            <a:srgbClr val="6A1B9A"/>
          </a:solidFill>
          <a:ln w="12700">
            <a:solidFill>
              <a:srgbClr val="6A1B9A"/>
            </a:solidFill>
            <a:prstDash val="solid"/>
          </a:ln>
        </p:spPr>
      </p:sp>
      <p:sp>
        <p:nvSpPr>
          <p:cNvPr id="14" name="Text 12"/>
          <p:cNvSpPr/>
          <p:nvPr/>
        </p:nvSpPr>
        <p:spPr>
          <a:xfrm>
            <a:off x="3328416"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7</a:t>
            </a:r>
            <a:endParaRPr lang="en-US" sz="1200" dirty="0"/>
          </a:p>
        </p:txBody>
      </p:sp>
      <p:sp>
        <p:nvSpPr>
          <p:cNvPr id="15" name="Text 13"/>
          <p:cNvSpPr/>
          <p:nvPr/>
        </p:nvSpPr>
        <p:spPr>
          <a:xfrm>
            <a:off x="3328416"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HOG Face Detection</a:t>
            </a:r>
            <a:endParaRPr lang="en-US" sz="1200" dirty="0"/>
          </a:p>
        </p:txBody>
      </p:sp>
      <p:sp>
        <p:nvSpPr>
          <p:cNvPr id="16" name="Text 14"/>
          <p:cNvSpPr/>
          <p:nvPr/>
        </p:nvSpPr>
        <p:spPr>
          <a:xfrm>
            <a:off x="3328416"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HOG (Histogram of Oriented Gradients) finds where the face is in the image. It scans the image looking for patterns of brightness change that match the shape of a human face — eye sockets, nose bridge, jawline. It draws a bounding box around the face location.</a:t>
            </a:r>
            <a:endParaRPr lang="en-US" sz="950" dirty="0"/>
          </a:p>
        </p:txBody>
      </p:sp>
      <p:sp>
        <p:nvSpPr>
          <p:cNvPr id="17" name="Shape 15"/>
          <p:cNvSpPr/>
          <p:nvPr/>
        </p:nvSpPr>
        <p:spPr>
          <a:xfrm>
            <a:off x="3310128" y="3611880"/>
            <a:ext cx="2697480" cy="1280160"/>
          </a:xfrm>
          <a:prstGeom prst="rect">
            <a:avLst/>
          </a:prstGeom>
          <a:solidFill>
            <a:srgbClr val="EBF5FF"/>
          </a:solidFill>
          <a:ln w="15240">
            <a:solidFill>
              <a:srgbClr val="BBDEFB"/>
            </a:solidFill>
            <a:prstDash val="solid"/>
          </a:ln>
        </p:spPr>
      </p:sp>
      <p:sp>
        <p:nvSpPr>
          <p:cNvPr id="18" name="Text 16"/>
          <p:cNvSpPr/>
          <p:nvPr/>
        </p:nvSpPr>
        <p:spPr>
          <a:xfrm>
            <a:off x="3346704"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Think of HOG as a very fast sketch artist — it traces the outline of shapes in the image and compares them to what a face outline looks like. If they match, it marks that region as a face.</a:t>
            </a:r>
            <a:endParaRPr lang="en-US" sz="900" dirty="0"/>
          </a:p>
        </p:txBody>
      </p:sp>
      <p:sp>
        <p:nvSpPr>
          <p:cNvPr id="19" name="Shape 17"/>
          <p:cNvSpPr/>
          <p:nvPr/>
        </p:nvSpPr>
        <p:spPr>
          <a:xfrm>
            <a:off x="6217920"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6217920" y="960120"/>
            <a:ext cx="2834640" cy="347472"/>
          </a:xfrm>
          <a:prstGeom prst="rect">
            <a:avLst/>
          </a:prstGeom>
          <a:solidFill>
            <a:srgbClr val="00ACC1"/>
          </a:solidFill>
          <a:ln w="12700">
            <a:solidFill>
              <a:srgbClr val="00ACC1"/>
            </a:solidFill>
            <a:prstDash val="solid"/>
          </a:ln>
        </p:spPr>
      </p:sp>
      <p:sp>
        <p:nvSpPr>
          <p:cNvPr id="21" name="Text 19"/>
          <p:cNvSpPr/>
          <p:nvPr/>
        </p:nvSpPr>
        <p:spPr>
          <a:xfrm>
            <a:off x="6309360"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8</a:t>
            </a:r>
            <a:endParaRPr lang="en-US" sz="1200" dirty="0"/>
          </a:p>
        </p:txBody>
      </p:sp>
      <p:sp>
        <p:nvSpPr>
          <p:cNvPr id="22" name="Text 20"/>
          <p:cNvSpPr/>
          <p:nvPr/>
        </p:nvSpPr>
        <p:spPr>
          <a:xfrm>
            <a:off x="6309360"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ROI Crop — Cut Out the Face</a:t>
            </a:r>
            <a:endParaRPr lang="en-US" sz="1200" dirty="0"/>
          </a:p>
        </p:txBody>
      </p:sp>
      <p:sp>
        <p:nvSpPr>
          <p:cNvPr id="23" name="Text 21"/>
          <p:cNvSpPr/>
          <p:nvPr/>
        </p:nvSpPr>
        <p:spPr>
          <a:xfrm>
            <a:off x="6309360"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Once we know where the face is, we crop just that region from the image. ROI means Region of Interest. We add 20 pixels of padding around the bounding box to make sure the chin, forehead, and ears are included. The AI needs these boundary features for accurate identification.</a:t>
            </a:r>
            <a:endParaRPr lang="en-US" sz="950" dirty="0"/>
          </a:p>
        </p:txBody>
      </p:sp>
      <p:sp>
        <p:nvSpPr>
          <p:cNvPr id="24" name="Shape 22"/>
          <p:cNvSpPr/>
          <p:nvPr/>
        </p:nvSpPr>
        <p:spPr>
          <a:xfrm>
            <a:off x="6291072" y="3611880"/>
            <a:ext cx="2697480" cy="1280160"/>
          </a:xfrm>
          <a:prstGeom prst="rect">
            <a:avLst/>
          </a:prstGeom>
          <a:solidFill>
            <a:srgbClr val="EBF5FF"/>
          </a:solidFill>
          <a:ln w="15240">
            <a:solidFill>
              <a:srgbClr val="BBDEFB"/>
            </a:solidFill>
            <a:prstDash val="solid"/>
          </a:ln>
        </p:spPr>
      </p:sp>
      <p:sp>
        <p:nvSpPr>
          <p:cNvPr id="25" name="Text 23"/>
          <p:cNvSpPr/>
          <p:nvPr/>
        </p:nvSpPr>
        <p:spPr>
          <a:xfrm>
            <a:off x="6327648"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We go from a full 640×480 image down to just the face — perhaps 120×120 pixels. This makes the AI faster and more focused.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03  Preprocessing — Steps 9, 10 &amp; 11</a:t>
            </a:r>
            <a:endParaRPr lang="en-US" sz="2200" dirty="0"/>
          </a:p>
        </p:txBody>
      </p:sp>
      <p:sp>
        <p:nvSpPr>
          <p:cNvPr id="4" name="Text 2"/>
          <p:cNvSpPr/>
          <p:nvPr/>
        </p:nvSpPr>
        <p:spPr>
          <a:xfrm>
            <a:off x="365760" y="640080"/>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Face alignment, normalisation, and the AI fingerprint</a:t>
            </a:r>
            <a:endParaRPr lang="en-US" sz="1200" dirty="0"/>
          </a:p>
        </p:txBody>
      </p:sp>
      <p:sp>
        <p:nvSpPr>
          <p:cNvPr id="5" name="Shape 3"/>
          <p:cNvSpPr/>
          <p:nvPr/>
        </p:nvSpPr>
        <p:spPr>
          <a:xfrm>
            <a:off x="256032"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6" name="Shape 4"/>
          <p:cNvSpPr/>
          <p:nvPr/>
        </p:nvSpPr>
        <p:spPr>
          <a:xfrm>
            <a:off x="256032" y="960120"/>
            <a:ext cx="2834640" cy="347472"/>
          </a:xfrm>
          <a:prstGeom prst="rect">
            <a:avLst/>
          </a:prstGeom>
          <a:solidFill>
            <a:srgbClr val="1565C0"/>
          </a:solidFill>
          <a:ln w="12700">
            <a:solidFill>
              <a:srgbClr val="1565C0"/>
            </a:solidFill>
            <a:prstDash val="solid"/>
          </a:ln>
        </p:spPr>
      </p:sp>
      <p:sp>
        <p:nvSpPr>
          <p:cNvPr id="7" name="Text 5"/>
          <p:cNvSpPr/>
          <p:nvPr/>
        </p:nvSpPr>
        <p:spPr>
          <a:xfrm>
            <a:off x="347472"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9</a:t>
            </a:r>
            <a:endParaRPr lang="en-US" sz="1200" dirty="0"/>
          </a:p>
        </p:txBody>
      </p:sp>
      <p:sp>
        <p:nvSpPr>
          <p:cNvPr id="8" name="Text 6"/>
          <p:cNvSpPr/>
          <p:nvPr/>
        </p:nvSpPr>
        <p:spPr>
          <a:xfrm>
            <a:off x="347472"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Face Alignment</a:t>
            </a:r>
            <a:endParaRPr lang="en-US" sz="1200" dirty="0"/>
          </a:p>
        </p:txBody>
      </p:sp>
      <p:sp>
        <p:nvSpPr>
          <p:cNvPr id="9" name="Text 7"/>
          <p:cNvSpPr/>
          <p:nvPr/>
        </p:nvSpPr>
        <p:spPr>
          <a:xfrm>
            <a:off x="347472"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If a student tilts their head, the face appears rotated in the image. This makes the AI produce slightly different 128-number fingerprints for the same person in different head positions. We fix this by finding the eye positions and rotating the image so both eyes are perfectly horizontal — same position every time.</a:t>
            </a:r>
            <a:endParaRPr lang="en-US" sz="950" dirty="0"/>
          </a:p>
        </p:txBody>
      </p:sp>
      <p:sp>
        <p:nvSpPr>
          <p:cNvPr id="10" name="Shape 8"/>
          <p:cNvSpPr/>
          <p:nvPr/>
        </p:nvSpPr>
        <p:spPr>
          <a:xfrm>
            <a:off x="329184" y="3611880"/>
            <a:ext cx="2697480" cy="1280160"/>
          </a:xfrm>
          <a:prstGeom prst="rect">
            <a:avLst/>
          </a:prstGeom>
          <a:solidFill>
            <a:srgbClr val="EBF5FF"/>
          </a:solidFill>
          <a:ln w="15240">
            <a:solidFill>
              <a:srgbClr val="BBDEFB"/>
            </a:solidFill>
            <a:prstDash val="solid"/>
          </a:ln>
        </p:spPr>
      </p:sp>
      <p:sp>
        <p:nvSpPr>
          <p:cNvPr id="11" name="Text 9"/>
          <p:cNvSpPr/>
          <p:nvPr/>
        </p:nvSpPr>
        <p:spPr>
          <a:xfrm>
            <a:off x="365760"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The system finds 5 facial landmarks — eye corners, nose tip, mouth corners. It calculates the angle between the eyes and rotates the image to straighten the face.</a:t>
            </a:r>
            <a:endParaRPr lang="en-US" sz="900" dirty="0"/>
          </a:p>
        </p:txBody>
      </p:sp>
      <p:sp>
        <p:nvSpPr>
          <p:cNvPr id="12" name="Shape 10"/>
          <p:cNvSpPr/>
          <p:nvPr/>
        </p:nvSpPr>
        <p:spPr>
          <a:xfrm>
            <a:off x="3236976"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3" name="Shape 11"/>
          <p:cNvSpPr/>
          <p:nvPr/>
        </p:nvSpPr>
        <p:spPr>
          <a:xfrm>
            <a:off x="3236976" y="960120"/>
            <a:ext cx="2834640" cy="347472"/>
          </a:xfrm>
          <a:prstGeom prst="rect">
            <a:avLst/>
          </a:prstGeom>
          <a:solidFill>
            <a:srgbClr val="6A1B9A"/>
          </a:solidFill>
          <a:ln w="12700">
            <a:solidFill>
              <a:srgbClr val="6A1B9A"/>
            </a:solidFill>
            <a:prstDash val="solid"/>
          </a:ln>
        </p:spPr>
      </p:sp>
      <p:sp>
        <p:nvSpPr>
          <p:cNvPr id="14" name="Text 12"/>
          <p:cNvSpPr/>
          <p:nvPr/>
        </p:nvSpPr>
        <p:spPr>
          <a:xfrm>
            <a:off x="3328416"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10</a:t>
            </a:r>
            <a:endParaRPr lang="en-US" sz="1200" dirty="0"/>
          </a:p>
        </p:txBody>
      </p:sp>
      <p:sp>
        <p:nvSpPr>
          <p:cNvPr id="15" name="Text 13"/>
          <p:cNvSpPr/>
          <p:nvPr/>
        </p:nvSpPr>
        <p:spPr>
          <a:xfrm>
            <a:off x="3328416"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Pixel Normalisation</a:t>
            </a:r>
            <a:endParaRPr lang="en-US" sz="1200" dirty="0"/>
          </a:p>
        </p:txBody>
      </p:sp>
      <p:sp>
        <p:nvSpPr>
          <p:cNvPr id="16" name="Text 14"/>
          <p:cNvSpPr/>
          <p:nvPr/>
        </p:nvSpPr>
        <p:spPr>
          <a:xfrm>
            <a:off x="3328416"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The AI model was trained on images where pixel values were scaled to a small range. If we send raw 0-255 pixel values, the first calculation the AI does produces numbers that are 255 times too large, causing errors. We scale all pixels to 0.0–1.0, then apply a standard adjustment (ImageNet mean and standard deviation).</a:t>
            </a:r>
            <a:endParaRPr lang="en-US" sz="950" dirty="0"/>
          </a:p>
        </p:txBody>
      </p:sp>
      <p:sp>
        <p:nvSpPr>
          <p:cNvPr id="17" name="Shape 15"/>
          <p:cNvSpPr/>
          <p:nvPr/>
        </p:nvSpPr>
        <p:spPr>
          <a:xfrm>
            <a:off x="3310128" y="3611880"/>
            <a:ext cx="2697480" cy="1280160"/>
          </a:xfrm>
          <a:prstGeom prst="rect">
            <a:avLst/>
          </a:prstGeom>
          <a:solidFill>
            <a:srgbClr val="EBF5FF"/>
          </a:solidFill>
          <a:ln w="15240">
            <a:solidFill>
              <a:srgbClr val="BBDEFB"/>
            </a:solidFill>
            <a:prstDash val="solid"/>
          </a:ln>
        </p:spPr>
      </p:sp>
      <p:sp>
        <p:nvSpPr>
          <p:cNvPr id="18" name="Text 16"/>
          <p:cNvSpPr/>
          <p:nvPr/>
        </p:nvSpPr>
        <p:spPr>
          <a:xfrm>
            <a:off x="3346704"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It is like converting temperatures from Fahrenheit to Celsius before feeding data to a weather model trained on Celsius. Same information, but in the format the model expects.</a:t>
            </a:r>
            <a:endParaRPr lang="en-US" sz="900" dirty="0"/>
          </a:p>
        </p:txBody>
      </p:sp>
      <p:sp>
        <p:nvSpPr>
          <p:cNvPr id="19" name="Shape 17"/>
          <p:cNvSpPr/>
          <p:nvPr/>
        </p:nvSpPr>
        <p:spPr>
          <a:xfrm>
            <a:off x="6217920" y="960120"/>
            <a:ext cx="2834640" cy="4041648"/>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0" name="Shape 18"/>
          <p:cNvSpPr/>
          <p:nvPr/>
        </p:nvSpPr>
        <p:spPr>
          <a:xfrm>
            <a:off x="6217920" y="960120"/>
            <a:ext cx="2834640" cy="347472"/>
          </a:xfrm>
          <a:prstGeom prst="rect">
            <a:avLst/>
          </a:prstGeom>
          <a:solidFill>
            <a:srgbClr val="C62828"/>
          </a:solidFill>
          <a:ln w="12700">
            <a:solidFill>
              <a:srgbClr val="C62828"/>
            </a:solidFill>
            <a:prstDash val="solid"/>
          </a:ln>
        </p:spPr>
      </p:sp>
      <p:sp>
        <p:nvSpPr>
          <p:cNvPr id="21" name="Text 19"/>
          <p:cNvSpPr/>
          <p:nvPr/>
        </p:nvSpPr>
        <p:spPr>
          <a:xfrm>
            <a:off x="6309360" y="978408"/>
            <a:ext cx="2651760"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STEP 11</a:t>
            </a:r>
            <a:endParaRPr lang="en-US" sz="1200" dirty="0"/>
          </a:p>
        </p:txBody>
      </p:sp>
      <p:sp>
        <p:nvSpPr>
          <p:cNvPr id="22" name="Text 20"/>
          <p:cNvSpPr/>
          <p:nvPr/>
        </p:nvSpPr>
        <p:spPr>
          <a:xfrm>
            <a:off x="6309360" y="1371600"/>
            <a:ext cx="2651760" cy="274320"/>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ResNet-34 CNN Encoding</a:t>
            </a:r>
            <a:endParaRPr lang="en-US" sz="1200" dirty="0"/>
          </a:p>
        </p:txBody>
      </p:sp>
      <p:sp>
        <p:nvSpPr>
          <p:cNvPr id="23" name="Text 21"/>
          <p:cNvSpPr/>
          <p:nvPr/>
        </p:nvSpPr>
        <p:spPr>
          <a:xfrm>
            <a:off x="6309360" y="1691640"/>
            <a:ext cx="2651760" cy="187452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The fully prepared face image is fed into a deep neural network called ResNet-34. This network has 34 layers and was trained on 3 million face photos. It converts the face image into exactly 128 numbers — a unique mathematical fingerprint for that face. These 128 numbers are what we compare to identify who the person is.</a:t>
            </a:r>
            <a:endParaRPr lang="en-US" sz="950" dirty="0"/>
          </a:p>
        </p:txBody>
      </p:sp>
      <p:sp>
        <p:nvSpPr>
          <p:cNvPr id="24" name="Shape 22"/>
          <p:cNvSpPr/>
          <p:nvPr/>
        </p:nvSpPr>
        <p:spPr>
          <a:xfrm>
            <a:off x="6291072" y="3611880"/>
            <a:ext cx="2697480" cy="1280160"/>
          </a:xfrm>
          <a:prstGeom prst="rect">
            <a:avLst/>
          </a:prstGeom>
          <a:solidFill>
            <a:srgbClr val="EBF5FF"/>
          </a:solidFill>
          <a:ln w="15240">
            <a:solidFill>
              <a:srgbClr val="BBDEFB"/>
            </a:solidFill>
            <a:prstDash val="solid"/>
          </a:ln>
        </p:spPr>
      </p:sp>
      <p:sp>
        <p:nvSpPr>
          <p:cNvPr id="25" name="Text 23"/>
          <p:cNvSpPr/>
          <p:nvPr/>
        </p:nvSpPr>
        <p:spPr>
          <a:xfrm>
            <a:off x="6327648" y="3639312"/>
            <a:ext cx="2587752" cy="1216152"/>
          </a:xfrm>
          <a:prstGeom prst="rect">
            <a:avLst/>
          </a:prstGeom>
          <a:noFill/>
          <a:ln/>
        </p:spPr>
        <p:txBody>
          <a:bodyPr wrap="square" rtlCol="0" anchor="ctr"/>
          <a:lstStyle/>
          <a:p>
            <a:pPr indent="0" marL="0">
              <a:buNone/>
            </a:pPr>
            <a:r>
              <a:rPr lang="en-US" sz="900" i="1" dirty="0">
                <a:solidFill>
                  <a:srgbClr val="1565C0"/>
                </a:solidFill>
                <a:latin typeface="Calibri" pitchFamily="34" charset="0"/>
                <a:ea typeface="Calibri" pitchFamily="34" charset="-122"/>
                <a:cs typeface="Calibri" pitchFamily="34" charset="-120"/>
              </a:rPr>
              <a:t>💡 Every person's face maps to a different location in 128-dimensional space. Same person → nearby location. Different person → faraway location.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04  Face Detection — HOG Algorithm</a:t>
            </a:r>
            <a:endParaRPr lang="en-US" sz="2200" dirty="0"/>
          </a:p>
        </p:txBody>
      </p:sp>
      <p:sp>
        <p:nvSpPr>
          <p:cNvPr id="4" name="Text 2"/>
          <p:cNvSpPr/>
          <p:nvPr/>
        </p:nvSpPr>
        <p:spPr>
          <a:xfrm>
            <a:off x="365760" y="640080"/>
            <a:ext cx="8412480" cy="256032"/>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How the system finds where the face is in the image</a:t>
            </a:r>
            <a:endParaRPr lang="en-US" sz="1200" dirty="0"/>
          </a:p>
        </p:txBody>
      </p:sp>
      <p:sp>
        <p:nvSpPr>
          <p:cNvPr id="5" name="Shape 3"/>
          <p:cNvSpPr/>
          <p:nvPr/>
        </p:nvSpPr>
        <p:spPr>
          <a:xfrm>
            <a:off x="228600" y="960120"/>
            <a:ext cx="1664208" cy="329184"/>
          </a:xfrm>
          <a:prstGeom prst="rect">
            <a:avLst/>
          </a:prstGeom>
          <a:solidFill>
            <a:srgbClr val="1565C0"/>
          </a:solidFill>
          <a:ln w="12700">
            <a:solidFill>
              <a:srgbClr val="1565C0"/>
            </a:solidFill>
            <a:prstDash val="solid"/>
          </a:ln>
        </p:spPr>
      </p:sp>
      <p:sp>
        <p:nvSpPr>
          <p:cNvPr id="6" name="Text 4"/>
          <p:cNvSpPr/>
          <p:nvPr/>
        </p:nvSpPr>
        <p:spPr>
          <a:xfrm>
            <a:off x="228600" y="978408"/>
            <a:ext cx="16642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1</a:t>
            </a:r>
            <a:endParaRPr lang="en-US" sz="1100" dirty="0"/>
          </a:p>
        </p:txBody>
      </p:sp>
      <p:sp>
        <p:nvSpPr>
          <p:cNvPr id="7" name="Shape 5"/>
          <p:cNvSpPr/>
          <p:nvPr/>
        </p:nvSpPr>
        <p:spPr>
          <a:xfrm>
            <a:off x="228600" y="1298448"/>
            <a:ext cx="1664208" cy="214884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8" name="Shape 6"/>
          <p:cNvSpPr/>
          <p:nvPr/>
        </p:nvSpPr>
        <p:spPr>
          <a:xfrm>
            <a:off x="228600" y="1298448"/>
            <a:ext cx="64008" cy="2148840"/>
          </a:xfrm>
          <a:prstGeom prst="rect">
            <a:avLst/>
          </a:prstGeom>
          <a:solidFill>
            <a:srgbClr val="1565C0"/>
          </a:solidFill>
          <a:ln w="12700">
            <a:solidFill>
              <a:srgbClr val="1565C0"/>
            </a:solidFill>
            <a:prstDash val="solid"/>
          </a:ln>
        </p:spPr>
      </p:sp>
      <p:sp>
        <p:nvSpPr>
          <p:cNvPr id="9" name="Text 7"/>
          <p:cNvSpPr/>
          <p:nvPr/>
        </p:nvSpPr>
        <p:spPr>
          <a:xfrm>
            <a:off x="338328" y="1353312"/>
            <a:ext cx="1481328" cy="274320"/>
          </a:xfrm>
          <a:prstGeom prst="rect">
            <a:avLst/>
          </a:prstGeom>
          <a:noFill/>
          <a:ln/>
        </p:spPr>
        <p:txBody>
          <a:bodyPr wrap="square" rtlCol="0" anchor="ctr"/>
          <a:lstStyle/>
          <a:p>
            <a:pPr indent="0" marL="0">
              <a:buNone/>
            </a:pPr>
            <a:r>
              <a:rPr lang="en-US" sz="1100" b="1" dirty="0">
                <a:solidFill>
                  <a:srgbClr val="0B1F45"/>
                </a:solidFill>
                <a:latin typeface="Calibri" pitchFamily="34" charset="0"/>
                <a:ea typeface="Calibri" pitchFamily="34" charset="-122"/>
                <a:cs typeface="Calibri" pitchFamily="34" charset="-120"/>
              </a:rPr>
              <a:t>Compute Gradients</a:t>
            </a:r>
            <a:endParaRPr lang="en-US" sz="1100" dirty="0"/>
          </a:p>
        </p:txBody>
      </p:sp>
      <p:sp>
        <p:nvSpPr>
          <p:cNvPr id="10" name="Text 8"/>
          <p:cNvSpPr/>
          <p:nvPr/>
        </p:nvSpPr>
        <p:spPr>
          <a:xfrm>
            <a:off x="338328" y="1664208"/>
            <a:ext cx="1481328" cy="169164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For every pixel, measure how much brightness changes and in which direction. Like finding where edges are in the image.</a:t>
            </a:r>
            <a:endParaRPr lang="en-US" sz="950" dirty="0"/>
          </a:p>
        </p:txBody>
      </p:sp>
      <p:sp>
        <p:nvSpPr>
          <p:cNvPr id="11" name="Text 9"/>
          <p:cNvSpPr/>
          <p:nvPr/>
        </p:nvSpPr>
        <p:spPr>
          <a:xfrm>
            <a:off x="1911096" y="1828800"/>
            <a:ext cx="91440" cy="365760"/>
          </a:xfrm>
          <a:prstGeom prst="rect">
            <a:avLst/>
          </a:prstGeom>
          <a:noFill/>
          <a:ln/>
        </p:spPr>
        <p:txBody>
          <a:bodyPr wrap="square" rtlCol="0" anchor="ctr"/>
          <a:lstStyle/>
          <a:p>
            <a:pPr algn="ctr" indent="0" marL="0">
              <a:buNone/>
            </a:pPr>
            <a:r>
              <a:rPr lang="en-US" sz="1600" dirty="0">
                <a:solidFill>
                  <a:srgbClr val="90A4AE"/>
                </a:solidFill>
              </a:rPr>
              <a:t>›</a:t>
            </a:r>
            <a:endParaRPr lang="en-US" sz="1600" dirty="0"/>
          </a:p>
        </p:txBody>
      </p:sp>
      <p:sp>
        <p:nvSpPr>
          <p:cNvPr id="12" name="Shape 10"/>
          <p:cNvSpPr/>
          <p:nvPr/>
        </p:nvSpPr>
        <p:spPr>
          <a:xfrm>
            <a:off x="1984248" y="960120"/>
            <a:ext cx="1664208" cy="329184"/>
          </a:xfrm>
          <a:prstGeom prst="rect">
            <a:avLst/>
          </a:prstGeom>
          <a:solidFill>
            <a:srgbClr val="6A1B9A"/>
          </a:solidFill>
          <a:ln w="12700">
            <a:solidFill>
              <a:srgbClr val="6A1B9A"/>
            </a:solidFill>
            <a:prstDash val="solid"/>
          </a:ln>
        </p:spPr>
      </p:sp>
      <p:sp>
        <p:nvSpPr>
          <p:cNvPr id="13" name="Text 11"/>
          <p:cNvSpPr/>
          <p:nvPr/>
        </p:nvSpPr>
        <p:spPr>
          <a:xfrm>
            <a:off x="1984248" y="978408"/>
            <a:ext cx="16642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2</a:t>
            </a:r>
            <a:endParaRPr lang="en-US" sz="1100" dirty="0"/>
          </a:p>
        </p:txBody>
      </p:sp>
      <p:sp>
        <p:nvSpPr>
          <p:cNvPr id="14" name="Shape 12"/>
          <p:cNvSpPr/>
          <p:nvPr/>
        </p:nvSpPr>
        <p:spPr>
          <a:xfrm>
            <a:off x="1984248" y="1298448"/>
            <a:ext cx="1664208" cy="214884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5" name="Shape 13"/>
          <p:cNvSpPr/>
          <p:nvPr/>
        </p:nvSpPr>
        <p:spPr>
          <a:xfrm>
            <a:off x="1984248" y="1298448"/>
            <a:ext cx="64008" cy="2148840"/>
          </a:xfrm>
          <a:prstGeom prst="rect">
            <a:avLst/>
          </a:prstGeom>
          <a:solidFill>
            <a:srgbClr val="6A1B9A"/>
          </a:solidFill>
          <a:ln w="12700">
            <a:solidFill>
              <a:srgbClr val="6A1B9A"/>
            </a:solidFill>
            <a:prstDash val="solid"/>
          </a:ln>
        </p:spPr>
      </p:sp>
      <p:sp>
        <p:nvSpPr>
          <p:cNvPr id="16" name="Text 14"/>
          <p:cNvSpPr/>
          <p:nvPr/>
        </p:nvSpPr>
        <p:spPr>
          <a:xfrm>
            <a:off x="2093976" y="1353312"/>
            <a:ext cx="1481328" cy="274320"/>
          </a:xfrm>
          <a:prstGeom prst="rect">
            <a:avLst/>
          </a:prstGeom>
          <a:noFill/>
          <a:ln/>
        </p:spPr>
        <p:txBody>
          <a:bodyPr wrap="square" rtlCol="0" anchor="ctr"/>
          <a:lstStyle/>
          <a:p>
            <a:pPr indent="0" marL="0">
              <a:buNone/>
            </a:pPr>
            <a:r>
              <a:rPr lang="en-US" sz="1100" b="1" dirty="0">
                <a:solidFill>
                  <a:srgbClr val="0B1F45"/>
                </a:solidFill>
                <a:latin typeface="Calibri" pitchFamily="34" charset="0"/>
                <a:ea typeface="Calibri" pitchFamily="34" charset="-122"/>
                <a:cs typeface="Calibri" pitchFamily="34" charset="-120"/>
              </a:rPr>
              <a:t>Build Histograms</a:t>
            </a:r>
            <a:endParaRPr lang="en-US" sz="1100" dirty="0"/>
          </a:p>
        </p:txBody>
      </p:sp>
      <p:sp>
        <p:nvSpPr>
          <p:cNvPr id="17" name="Text 15"/>
          <p:cNvSpPr/>
          <p:nvPr/>
        </p:nvSpPr>
        <p:spPr>
          <a:xfrm>
            <a:off x="2093976" y="1664208"/>
            <a:ext cx="1481328" cy="169164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Divide image into 8×8 pixel cells. In each cell, count which directions the brightness changes — 9 possible directions.</a:t>
            </a:r>
            <a:endParaRPr lang="en-US" sz="950" dirty="0"/>
          </a:p>
        </p:txBody>
      </p:sp>
      <p:sp>
        <p:nvSpPr>
          <p:cNvPr id="18" name="Text 16"/>
          <p:cNvSpPr/>
          <p:nvPr/>
        </p:nvSpPr>
        <p:spPr>
          <a:xfrm>
            <a:off x="3666744" y="1828800"/>
            <a:ext cx="91440" cy="365760"/>
          </a:xfrm>
          <a:prstGeom prst="rect">
            <a:avLst/>
          </a:prstGeom>
          <a:noFill/>
          <a:ln/>
        </p:spPr>
        <p:txBody>
          <a:bodyPr wrap="square" rtlCol="0" anchor="ctr"/>
          <a:lstStyle/>
          <a:p>
            <a:pPr algn="ctr" indent="0" marL="0">
              <a:buNone/>
            </a:pPr>
            <a:r>
              <a:rPr lang="en-US" sz="1600" dirty="0">
                <a:solidFill>
                  <a:srgbClr val="90A4AE"/>
                </a:solidFill>
              </a:rPr>
              <a:t>›</a:t>
            </a:r>
            <a:endParaRPr lang="en-US" sz="1600" dirty="0"/>
          </a:p>
        </p:txBody>
      </p:sp>
      <p:sp>
        <p:nvSpPr>
          <p:cNvPr id="19" name="Shape 17"/>
          <p:cNvSpPr/>
          <p:nvPr/>
        </p:nvSpPr>
        <p:spPr>
          <a:xfrm>
            <a:off x="3739896" y="960120"/>
            <a:ext cx="1664208" cy="329184"/>
          </a:xfrm>
          <a:prstGeom prst="rect">
            <a:avLst/>
          </a:prstGeom>
          <a:solidFill>
            <a:srgbClr val="00ACC1"/>
          </a:solidFill>
          <a:ln w="12700">
            <a:solidFill>
              <a:srgbClr val="00ACC1"/>
            </a:solidFill>
            <a:prstDash val="solid"/>
          </a:ln>
        </p:spPr>
      </p:sp>
      <p:sp>
        <p:nvSpPr>
          <p:cNvPr id="20" name="Text 18"/>
          <p:cNvSpPr/>
          <p:nvPr/>
        </p:nvSpPr>
        <p:spPr>
          <a:xfrm>
            <a:off x="3739896" y="978408"/>
            <a:ext cx="16642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3</a:t>
            </a:r>
            <a:endParaRPr lang="en-US" sz="1100" dirty="0"/>
          </a:p>
        </p:txBody>
      </p:sp>
      <p:sp>
        <p:nvSpPr>
          <p:cNvPr id="21" name="Shape 19"/>
          <p:cNvSpPr/>
          <p:nvPr/>
        </p:nvSpPr>
        <p:spPr>
          <a:xfrm>
            <a:off x="3739896" y="1298448"/>
            <a:ext cx="1664208" cy="214884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2" name="Shape 20"/>
          <p:cNvSpPr/>
          <p:nvPr/>
        </p:nvSpPr>
        <p:spPr>
          <a:xfrm>
            <a:off x="3739896" y="1298448"/>
            <a:ext cx="64008" cy="2148840"/>
          </a:xfrm>
          <a:prstGeom prst="rect">
            <a:avLst/>
          </a:prstGeom>
          <a:solidFill>
            <a:srgbClr val="00ACC1"/>
          </a:solidFill>
          <a:ln w="12700">
            <a:solidFill>
              <a:srgbClr val="00ACC1"/>
            </a:solidFill>
            <a:prstDash val="solid"/>
          </a:ln>
        </p:spPr>
      </p:sp>
      <p:sp>
        <p:nvSpPr>
          <p:cNvPr id="23" name="Text 21"/>
          <p:cNvSpPr/>
          <p:nvPr/>
        </p:nvSpPr>
        <p:spPr>
          <a:xfrm>
            <a:off x="3849624" y="1353312"/>
            <a:ext cx="1481328" cy="274320"/>
          </a:xfrm>
          <a:prstGeom prst="rect">
            <a:avLst/>
          </a:prstGeom>
          <a:noFill/>
          <a:ln/>
        </p:spPr>
        <p:txBody>
          <a:bodyPr wrap="square" rtlCol="0" anchor="ctr"/>
          <a:lstStyle/>
          <a:p>
            <a:pPr indent="0" marL="0">
              <a:buNone/>
            </a:pPr>
            <a:r>
              <a:rPr lang="en-US" sz="1100" b="1" dirty="0">
                <a:solidFill>
                  <a:srgbClr val="0B1F45"/>
                </a:solidFill>
                <a:latin typeface="Calibri" pitchFamily="34" charset="0"/>
                <a:ea typeface="Calibri" pitchFamily="34" charset="-122"/>
                <a:cs typeface="Calibri" pitchFamily="34" charset="-120"/>
              </a:rPr>
              <a:t>Normalise Blocks</a:t>
            </a:r>
            <a:endParaRPr lang="en-US" sz="1100" dirty="0"/>
          </a:p>
        </p:txBody>
      </p:sp>
      <p:sp>
        <p:nvSpPr>
          <p:cNvPr id="24" name="Text 22"/>
          <p:cNvSpPr/>
          <p:nvPr/>
        </p:nvSpPr>
        <p:spPr>
          <a:xfrm>
            <a:off x="3849624" y="1664208"/>
            <a:ext cx="1481328" cy="169164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Group 4 cells into a 16×16 block. Balance the numbers so lighting differences don't affect the result.</a:t>
            </a:r>
            <a:endParaRPr lang="en-US" sz="950" dirty="0"/>
          </a:p>
        </p:txBody>
      </p:sp>
      <p:sp>
        <p:nvSpPr>
          <p:cNvPr id="25" name="Text 23"/>
          <p:cNvSpPr/>
          <p:nvPr/>
        </p:nvSpPr>
        <p:spPr>
          <a:xfrm>
            <a:off x="5422392" y="1828800"/>
            <a:ext cx="91440" cy="365760"/>
          </a:xfrm>
          <a:prstGeom prst="rect">
            <a:avLst/>
          </a:prstGeom>
          <a:noFill/>
          <a:ln/>
        </p:spPr>
        <p:txBody>
          <a:bodyPr wrap="square" rtlCol="0" anchor="ctr"/>
          <a:lstStyle/>
          <a:p>
            <a:pPr algn="ctr" indent="0" marL="0">
              <a:buNone/>
            </a:pPr>
            <a:r>
              <a:rPr lang="en-US" sz="1600" dirty="0">
                <a:solidFill>
                  <a:srgbClr val="90A4AE"/>
                </a:solidFill>
              </a:rPr>
              <a:t>›</a:t>
            </a:r>
            <a:endParaRPr lang="en-US" sz="1600" dirty="0"/>
          </a:p>
        </p:txBody>
      </p:sp>
      <p:sp>
        <p:nvSpPr>
          <p:cNvPr id="26" name="Shape 24"/>
          <p:cNvSpPr/>
          <p:nvPr/>
        </p:nvSpPr>
        <p:spPr>
          <a:xfrm>
            <a:off x="5495544" y="960120"/>
            <a:ext cx="1664208" cy="329184"/>
          </a:xfrm>
          <a:prstGeom prst="rect">
            <a:avLst/>
          </a:prstGeom>
          <a:solidFill>
            <a:srgbClr val="E65100"/>
          </a:solidFill>
          <a:ln w="12700">
            <a:solidFill>
              <a:srgbClr val="E65100"/>
            </a:solidFill>
            <a:prstDash val="solid"/>
          </a:ln>
        </p:spPr>
      </p:sp>
      <p:sp>
        <p:nvSpPr>
          <p:cNvPr id="27" name="Text 25"/>
          <p:cNvSpPr/>
          <p:nvPr/>
        </p:nvSpPr>
        <p:spPr>
          <a:xfrm>
            <a:off x="5495544" y="978408"/>
            <a:ext cx="16642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4</a:t>
            </a:r>
            <a:endParaRPr lang="en-US" sz="1100" dirty="0"/>
          </a:p>
        </p:txBody>
      </p:sp>
      <p:sp>
        <p:nvSpPr>
          <p:cNvPr id="28" name="Shape 26"/>
          <p:cNvSpPr/>
          <p:nvPr/>
        </p:nvSpPr>
        <p:spPr>
          <a:xfrm>
            <a:off x="5495544" y="1298448"/>
            <a:ext cx="1664208" cy="214884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9" name="Shape 27"/>
          <p:cNvSpPr/>
          <p:nvPr/>
        </p:nvSpPr>
        <p:spPr>
          <a:xfrm>
            <a:off x="5495544" y="1298448"/>
            <a:ext cx="64008" cy="2148840"/>
          </a:xfrm>
          <a:prstGeom prst="rect">
            <a:avLst/>
          </a:prstGeom>
          <a:solidFill>
            <a:srgbClr val="E65100"/>
          </a:solidFill>
          <a:ln w="12700">
            <a:solidFill>
              <a:srgbClr val="E65100"/>
            </a:solidFill>
            <a:prstDash val="solid"/>
          </a:ln>
        </p:spPr>
      </p:sp>
      <p:sp>
        <p:nvSpPr>
          <p:cNvPr id="30" name="Text 28"/>
          <p:cNvSpPr/>
          <p:nvPr/>
        </p:nvSpPr>
        <p:spPr>
          <a:xfrm>
            <a:off x="5605272" y="1353312"/>
            <a:ext cx="1481328" cy="274320"/>
          </a:xfrm>
          <a:prstGeom prst="rect">
            <a:avLst/>
          </a:prstGeom>
          <a:noFill/>
          <a:ln/>
        </p:spPr>
        <p:txBody>
          <a:bodyPr wrap="square" rtlCol="0" anchor="ctr"/>
          <a:lstStyle/>
          <a:p>
            <a:pPr indent="0" marL="0">
              <a:buNone/>
            </a:pPr>
            <a:r>
              <a:rPr lang="en-US" sz="1100" b="1" dirty="0">
                <a:solidFill>
                  <a:srgbClr val="0B1F45"/>
                </a:solidFill>
                <a:latin typeface="Calibri" pitchFamily="34" charset="0"/>
                <a:ea typeface="Calibri" pitchFamily="34" charset="-122"/>
                <a:cs typeface="Calibri" pitchFamily="34" charset="-120"/>
              </a:rPr>
              <a:t>SVM Classifier</a:t>
            </a:r>
            <a:endParaRPr lang="en-US" sz="1100" dirty="0"/>
          </a:p>
        </p:txBody>
      </p:sp>
      <p:sp>
        <p:nvSpPr>
          <p:cNvPr id="31" name="Text 29"/>
          <p:cNvSpPr/>
          <p:nvPr/>
        </p:nvSpPr>
        <p:spPr>
          <a:xfrm>
            <a:off x="5605272" y="1664208"/>
            <a:ext cx="1481328" cy="169164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Slide a window across the image. At each position, ask a trained classifier: does this look like a face? Yes or No.</a:t>
            </a:r>
            <a:endParaRPr lang="en-US" sz="950" dirty="0"/>
          </a:p>
        </p:txBody>
      </p:sp>
      <p:sp>
        <p:nvSpPr>
          <p:cNvPr id="32" name="Text 30"/>
          <p:cNvSpPr/>
          <p:nvPr/>
        </p:nvSpPr>
        <p:spPr>
          <a:xfrm>
            <a:off x="7178040" y="1828800"/>
            <a:ext cx="91440" cy="365760"/>
          </a:xfrm>
          <a:prstGeom prst="rect">
            <a:avLst/>
          </a:prstGeom>
          <a:noFill/>
          <a:ln/>
        </p:spPr>
        <p:txBody>
          <a:bodyPr wrap="square" rtlCol="0" anchor="ctr"/>
          <a:lstStyle/>
          <a:p>
            <a:pPr algn="ctr" indent="0" marL="0">
              <a:buNone/>
            </a:pPr>
            <a:r>
              <a:rPr lang="en-US" sz="1600" dirty="0">
                <a:solidFill>
                  <a:srgbClr val="90A4AE"/>
                </a:solidFill>
              </a:rPr>
              <a:t>›</a:t>
            </a:r>
            <a:endParaRPr lang="en-US" sz="1600" dirty="0"/>
          </a:p>
        </p:txBody>
      </p:sp>
      <p:sp>
        <p:nvSpPr>
          <p:cNvPr id="33" name="Shape 31"/>
          <p:cNvSpPr/>
          <p:nvPr/>
        </p:nvSpPr>
        <p:spPr>
          <a:xfrm>
            <a:off x="7251192" y="960120"/>
            <a:ext cx="1664208" cy="329184"/>
          </a:xfrm>
          <a:prstGeom prst="rect">
            <a:avLst/>
          </a:prstGeom>
          <a:solidFill>
            <a:srgbClr val="C62828"/>
          </a:solidFill>
          <a:ln w="12700">
            <a:solidFill>
              <a:srgbClr val="C62828"/>
            </a:solidFill>
            <a:prstDash val="solid"/>
          </a:ln>
        </p:spPr>
      </p:sp>
      <p:sp>
        <p:nvSpPr>
          <p:cNvPr id="34" name="Text 32"/>
          <p:cNvSpPr/>
          <p:nvPr/>
        </p:nvSpPr>
        <p:spPr>
          <a:xfrm>
            <a:off x="7251192" y="978408"/>
            <a:ext cx="1664208" cy="29260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Stage 5</a:t>
            </a:r>
            <a:endParaRPr lang="en-US" sz="1100" dirty="0"/>
          </a:p>
        </p:txBody>
      </p:sp>
      <p:sp>
        <p:nvSpPr>
          <p:cNvPr id="35" name="Shape 33"/>
          <p:cNvSpPr/>
          <p:nvPr/>
        </p:nvSpPr>
        <p:spPr>
          <a:xfrm>
            <a:off x="7251192" y="1298448"/>
            <a:ext cx="1664208" cy="214884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36" name="Shape 34"/>
          <p:cNvSpPr/>
          <p:nvPr/>
        </p:nvSpPr>
        <p:spPr>
          <a:xfrm>
            <a:off x="7251192" y="1298448"/>
            <a:ext cx="64008" cy="2148840"/>
          </a:xfrm>
          <a:prstGeom prst="rect">
            <a:avLst/>
          </a:prstGeom>
          <a:solidFill>
            <a:srgbClr val="C62828"/>
          </a:solidFill>
          <a:ln w="12700">
            <a:solidFill>
              <a:srgbClr val="C62828"/>
            </a:solidFill>
            <a:prstDash val="solid"/>
          </a:ln>
        </p:spPr>
      </p:sp>
      <p:sp>
        <p:nvSpPr>
          <p:cNvPr id="37" name="Text 35"/>
          <p:cNvSpPr/>
          <p:nvPr/>
        </p:nvSpPr>
        <p:spPr>
          <a:xfrm>
            <a:off x="7360920" y="1353312"/>
            <a:ext cx="1481328" cy="274320"/>
          </a:xfrm>
          <a:prstGeom prst="rect">
            <a:avLst/>
          </a:prstGeom>
          <a:noFill/>
          <a:ln/>
        </p:spPr>
        <p:txBody>
          <a:bodyPr wrap="square" rtlCol="0" anchor="ctr"/>
          <a:lstStyle/>
          <a:p>
            <a:pPr indent="0" marL="0">
              <a:buNone/>
            </a:pPr>
            <a:r>
              <a:rPr lang="en-US" sz="1100" b="1" dirty="0">
                <a:solidFill>
                  <a:srgbClr val="0B1F45"/>
                </a:solidFill>
                <a:latin typeface="Calibri" pitchFamily="34" charset="0"/>
                <a:ea typeface="Calibri" pitchFamily="34" charset="-122"/>
                <a:cs typeface="Calibri" pitchFamily="34" charset="-120"/>
              </a:rPr>
              <a:t>Image Pyramid</a:t>
            </a:r>
            <a:endParaRPr lang="en-US" sz="1100" dirty="0"/>
          </a:p>
        </p:txBody>
      </p:sp>
      <p:sp>
        <p:nvSpPr>
          <p:cNvPr id="38" name="Text 36"/>
          <p:cNvSpPr/>
          <p:nvPr/>
        </p:nvSpPr>
        <p:spPr>
          <a:xfrm>
            <a:off x="7360920" y="1664208"/>
            <a:ext cx="1481328" cy="1691640"/>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Repeat at smaller and smaller image sizes to detect both large (close) and small (distant) faces.</a:t>
            </a:r>
            <a:endParaRPr lang="en-US" sz="950" dirty="0"/>
          </a:p>
        </p:txBody>
      </p:sp>
      <p:sp>
        <p:nvSpPr>
          <p:cNvPr id="39" name="Shape 37"/>
          <p:cNvSpPr/>
          <p:nvPr/>
        </p:nvSpPr>
        <p:spPr>
          <a:xfrm>
            <a:off x="228600" y="3547872"/>
            <a:ext cx="5029200" cy="1554480"/>
          </a:xfrm>
          <a:prstGeom prst="rect">
            <a:avLst/>
          </a:prstGeom>
          <a:solidFill>
            <a:srgbClr val="1A2A3F"/>
          </a:solidFill>
          <a:ln w="12700">
            <a:solidFill>
              <a:srgbClr val="1A2A3F"/>
            </a:solidFill>
            <a:prstDash val="solid"/>
          </a:ln>
        </p:spPr>
      </p:sp>
      <p:sp>
        <p:nvSpPr>
          <p:cNvPr id="40" name="Text 38"/>
          <p:cNvSpPr/>
          <p:nvPr/>
        </p:nvSpPr>
        <p:spPr>
          <a:xfrm>
            <a:off x="274320" y="3575304"/>
            <a:ext cx="4937760" cy="1499616"/>
          </a:xfrm>
          <a:prstGeom prst="rect">
            <a:avLst/>
          </a:prstGeom>
          <a:noFill/>
          <a:ln/>
        </p:spPr>
        <p:txBody>
          <a:bodyPr wrap="square" rtlCol="0" anchor="ctr"/>
          <a:lstStyle/>
          <a:p>
            <a:pPr indent="0" marL="0">
              <a:buNone/>
            </a:pPr>
            <a:r>
              <a:rPr lang="en-US" sz="900" dirty="0">
                <a:solidFill>
                  <a:srgbClr val="A6E3A1"/>
                </a:solidFill>
                <a:latin typeface="Courier New" pitchFamily="34" charset="0"/>
                <a:ea typeface="Courier New" pitchFamily="34" charset="-122"/>
                <a:cs typeface="Courier New" pitchFamily="34" charset="-120"/>
              </a:rPr>
              <a:t>face_locations = face_recognition.face_locations(</a:t>
            </a:r>
            <a:endParaRPr lang="en-US" sz="900" dirty="0"/>
          </a:p>
          <a:p>
            <a:pPr indent="0" marL="0">
              <a:buNone/>
            </a:pPr>
            <a:r>
              <a:rPr lang="en-US" sz="900" dirty="0">
                <a:solidFill>
                  <a:srgbClr val="A6E3A1"/>
                </a:solidFill>
                <a:latin typeface="Courier New" pitchFamily="34" charset="0"/>
                <a:ea typeface="Courier New" pitchFamily="34" charset="-122"/>
                <a:cs typeface="Courier New" pitchFamily="34" charset="-120"/>
              </a:rPr>
              <a:t>    small_frame, model='hog')</a:t>
            </a:r>
            <a:endParaRPr lang="en-US" sz="900" dirty="0"/>
          </a:p>
          <a:p>
            <a:pPr indent="0" marL="0">
              <a:buNone/>
            </a:pPr>
            <a:r>
              <a:rPr lang="en-US" sz="900" dirty="0">
                <a:solidFill>
                  <a:srgbClr val="A6E3A1"/>
                </a:solidFill>
                <a:latin typeface="Courier New" pitchFamily="34" charset="0"/>
                <a:ea typeface="Courier New" pitchFamily="34" charset="-122"/>
                <a:cs typeface="Courier New" pitchFamily="34" charset="-120"/>
              </a:rPr>
              <a:t># Returns: [(top, right, bottom, left), ...]</a:t>
            </a:r>
            <a:endParaRPr lang="en-US" sz="900" dirty="0"/>
          </a:p>
          <a:p>
            <a:pPr indent="0" marL="0">
              <a:buNone/>
            </a:pPr>
            <a:r>
              <a:rPr lang="en-US" sz="900" dirty="0">
                <a:solidFill>
                  <a:srgbClr val="A6E3A1"/>
                </a:solidFill>
                <a:latin typeface="Courier New" pitchFamily="34" charset="0"/>
                <a:ea typeface="Courier New" pitchFamily="34" charset="-122"/>
                <a:cs typeface="Courier New" pitchFamily="34" charset="-120"/>
              </a:rPr>
              <a:t># Scale back up: coords × 4</a:t>
            </a:r>
            <a:endParaRPr lang="en-US" sz="900" dirty="0"/>
          </a:p>
          <a:p>
            <a:pPr indent="0" marL="0">
              <a:buNone/>
            </a:pPr>
            <a:endParaRPr lang="en-US" sz="900" dirty="0"/>
          </a:p>
          <a:p>
            <a:pPr indent="0" marL="0">
              <a:buNone/>
            </a:pPr>
            <a:r>
              <a:rPr lang="en-US" sz="900" dirty="0">
                <a:solidFill>
                  <a:srgbClr val="A6E3A1"/>
                </a:solidFill>
                <a:latin typeface="Courier New" pitchFamily="34" charset="0"/>
                <a:ea typeface="Courier New" pitchFamily="34" charset="-122"/>
                <a:cs typeface="Courier New" pitchFamily="34" charset="-120"/>
              </a:rPr>
              <a:t>face_encodings = face_recognition.face_encodings(</a:t>
            </a:r>
            <a:endParaRPr lang="en-US" sz="900" dirty="0"/>
          </a:p>
          <a:p>
            <a:pPr indent="0" marL="0">
              <a:buNone/>
            </a:pPr>
            <a:r>
              <a:rPr lang="en-US" sz="900" dirty="0">
                <a:solidFill>
                  <a:srgbClr val="A6E3A1"/>
                </a:solidFill>
                <a:latin typeface="Courier New" pitchFamily="34" charset="0"/>
                <a:ea typeface="Courier New" pitchFamily="34" charset="-122"/>
                <a:cs typeface="Courier New" pitchFamily="34" charset="-120"/>
              </a:rPr>
              <a:t>    small_frame, face_locations)</a:t>
            </a:r>
            <a:endParaRPr lang="en-US" sz="900" dirty="0"/>
          </a:p>
        </p:txBody>
      </p:sp>
      <p:sp>
        <p:nvSpPr>
          <p:cNvPr id="41" name="Shape 39"/>
          <p:cNvSpPr/>
          <p:nvPr/>
        </p:nvSpPr>
        <p:spPr>
          <a:xfrm>
            <a:off x="5349240" y="3547872"/>
            <a:ext cx="3566160" cy="155448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42" name="Text 40"/>
          <p:cNvSpPr/>
          <p:nvPr/>
        </p:nvSpPr>
        <p:spPr>
          <a:xfrm>
            <a:off x="5440680" y="3602736"/>
            <a:ext cx="3291840" cy="256032"/>
          </a:xfrm>
          <a:prstGeom prst="rect">
            <a:avLst/>
          </a:prstGeom>
          <a:noFill/>
          <a:ln/>
        </p:spPr>
        <p:txBody>
          <a:bodyPr wrap="square" rtlCol="0" anchor="ctr"/>
          <a:lstStyle/>
          <a:p>
            <a:pPr indent="0" marL="0">
              <a:buNone/>
            </a:pPr>
            <a:r>
              <a:rPr lang="en-US" sz="1200" b="1" dirty="0">
                <a:solidFill>
                  <a:srgbClr val="0B1F45"/>
                </a:solidFill>
                <a:latin typeface="Calibri" pitchFamily="34" charset="0"/>
                <a:ea typeface="Calibri" pitchFamily="34" charset="-122"/>
                <a:cs typeface="Calibri" pitchFamily="34" charset="-120"/>
              </a:rPr>
              <a:t>HOG vs CNN Detection</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349240" y="3904488"/>
          <a:ext cx="3566160" cy="1078992"/>
        </p:xfrm>
        <a:graphic>
          <a:graphicData uri="http://schemas.openxmlformats.org/drawingml/2006/table">
            <a:tbl>
              <a:tblPr/>
              <a:tblGrid>
                <a:gridCol w="914400"/>
                <a:gridCol w="1463040"/>
                <a:gridCol w="1188720"/>
              </a:tblGrid>
              <a:tr h="269748">
                <a:tc>
                  <a:txBody>
                    <a:bodyPr/>
                    <a:lstStyle/>
                    <a:p>
                      <a:pPr indent="0" marL="0">
                        <a:buNone/>
                      </a:pP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c>
                  <a:txBody>
                    <a:bodyPr/>
                    <a:lstStyle/>
                    <a:p>
                      <a:pPr indent="0" marL="0">
                        <a:buNone/>
                      </a:pPr>
                      <a:r>
                        <a:rPr lang="en-US" sz="950" b="1" dirty="0">
                          <a:solidFill>
                            <a:srgbClr val="FFFFFF"/>
                          </a:solidFill>
                        </a:rPr>
                        <a:t>HOG ✓ (our choice)</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c>
                  <a:txBody>
                    <a:bodyPr/>
                    <a:lstStyle/>
                    <a:p>
                      <a:pPr indent="0" marL="0">
                        <a:buNone/>
                      </a:pPr>
                      <a:r>
                        <a:rPr lang="en-US" sz="950" b="1" dirty="0">
                          <a:solidFill>
                            <a:srgbClr val="FFFFFF"/>
                          </a:solidFill>
                        </a:rPr>
                        <a:t>CNN</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solidFill>
                      <a:srgbClr val="0B1F45"/>
                    </a:solidFill>
                  </a:tcPr>
                </a:tc>
              </a:tr>
              <a:tr h="269748">
                <a:tc>
                  <a:txBody>
                    <a:bodyPr/>
                    <a:lstStyle/>
                    <a:p>
                      <a:pPr indent="0" marL="0">
                        <a:buNone/>
                      </a:pPr>
                      <a:r>
                        <a:rPr lang="en-US" sz="950" b="1" dirty="0">
                          <a:solidFill>
                            <a:srgbClr val="000000"/>
                          </a:solidFill>
                        </a:rPr>
                        <a:t>Speed</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2E7D32"/>
                          </a:solidFill>
                        </a:rPr>
                        <a:t>30 FPS real-time</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E65100"/>
                          </a:solidFill>
                        </a:rPr>
                        <a:t>5–10× slower</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r h="269748">
                <a:tc>
                  <a:txBody>
                    <a:bodyPr/>
                    <a:lstStyle/>
                    <a:p>
                      <a:pPr indent="0" marL="0">
                        <a:buNone/>
                      </a:pPr>
                      <a:r>
                        <a:rPr lang="en-US" sz="950" b="1" dirty="0">
                          <a:solidFill>
                            <a:srgbClr val="000000"/>
                          </a:solidFill>
                        </a:rPr>
                        <a:t>Accuracy</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Good for frontal faces</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Better for angles</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r h="269748">
                <a:tc>
                  <a:txBody>
                    <a:bodyPr/>
                    <a:lstStyle/>
                    <a:p>
                      <a:pPr indent="0" marL="0">
                        <a:buNone/>
                      </a:pPr>
                      <a:r>
                        <a:rPr lang="en-US" sz="950" b="1" dirty="0">
                          <a:solidFill>
                            <a:srgbClr val="000000"/>
                          </a:solidFill>
                        </a:rPr>
                        <a:t>Use when</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2E7D32"/>
                          </a:solidFill>
                        </a:rPr>
                        <a:t>Live verification</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c>
                  <a:txBody>
                    <a:bodyPr/>
                    <a:lstStyle/>
                    <a:p>
                      <a:pPr indent="0" marL="0">
                        <a:buNone/>
                      </a:pPr>
                      <a:r>
                        <a:rPr lang="en-US" sz="950" dirty="0">
                          <a:solidFill>
                            <a:srgbClr val="000000"/>
                          </a:solidFill>
                        </a:rPr>
                        <a:t>Registration capture</a:t>
                      </a:r>
                      <a:endParaRPr lang="en-US" sz="950" dirty="0"/>
                    </a:p>
                  </a:txBody>
                  <a:tcPr marL="91440" marR="91440" marT="45720" marB="45720">
                    <a:lnL w="6350" cap="flat" cmpd="sng" algn="ctr">
                      <a:solidFill>
                        <a:srgbClr val="D6E4F5"/>
                      </a:solidFill>
                      <a:prstDash val="solid"/>
                      <a:round/>
                      <a:headEnd type="none" w="med" len="med"/>
                      <a:tailEnd type="none" w="med" len="med"/>
                    </a:lnL>
                    <a:lnR w="6350" cap="flat" cmpd="sng" algn="ctr">
                      <a:solidFill>
                        <a:srgbClr val="D6E4F5"/>
                      </a:solidFill>
                      <a:prstDash val="solid"/>
                      <a:round/>
                      <a:headEnd type="none" w="med" len="med"/>
                      <a:tailEnd type="none" w="med" len="med"/>
                    </a:lnR>
                    <a:lnT w="6350" cap="flat" cmpd="sng" algn="ctr">
                      <a:solidFill>
                        <a:srgbClr val="D6E4F5"/>
                      </a:solidFill>
                      <a:prstDash val="solid"/>
                      <a:round/>
                      <a:headEnd type="none" w="med" len="med"/>
                      <a:tailEnd type="none" w="med" len="med"/>
                    </a:lnT>
                    <a:lnB w="6350" cap="flat" cmpd="sng" algn="ctr">
                      <a:solidFill>
                        <a:srgbClr val="D6E4F5"/>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w="12700">
            <a:solidFill>
              <a:srgbClr val="00BCD4"/>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05  Face Recognition — ResNet-34 &amp; Euclidean Matching</a:t>
            </a:r>
            <a:endParaRPr lang="en-US" sz="2100" dirty="0"/>
          </a:p>
        </p:txBody>
      </p:sp>
      <p:sp>
        <p:nvSpPr>
          <p:cNvPr id="4" name="Text 2"/>
          <p:cNvSpPr/>
          <p:nvPr/>
        </p:nvSpPr>
        <p:spPr>
          <a:xfrm>
            <a:off x="365760" y="548640"/>
            <a:ext cx="8412480" cy="237744"/>
          </a:xfrm>
          <a:prstGeom prst="rect">
            <a:avLst/>
          </a:prstGeom>
          <a:noFill/>
          <a:ln/>
        </p:spPr>
        <p:txBody>
          <a:bodyPr wrap="square" rtlCol="0" anchor="ctr"/>
          <a:lstStyle/>
          <a:p>
            <a:pPr indent="0" marL="0">
              <a:buNone/>
            </a:pPr>
            <a:r>
              <a:rPr lang="en-US" sz="1200" i="1" dirty="0">
                <a:solidFill>
                  <a:srgbClr val="00BCD4"/>
                </a:solidFill>
                <a:latin typeface="Calibri" pitchFamily="34" charset="0"/>
                <a:ea typeface="Calibri" pitchFamily="34" charset="-122"/>
                <a:cs typeface="Calibri" pitchFamily="34" charset="-120"/>
              </a:rPr>
              <a:t>How the system identifies who the face belongs to</a:t>
            </a:r>
            <a:endParaRPr lang="en-US" sz="1200" dirty="0"/>
          </a:p>
        </p:txBody>
      </p:sp>
      <p:sp>
        <p:nvSpPr>
          <p:cNvPr id="5" name="Shape 3"/>
          <p:cNvSpPr/>
          <p:nvPr/>
        </p:nvSpPr>
        <p:spPr>
          <a:xfrm>
            <a:off x="256032" y="914400"/>
            <a:ext cx="4160520" cy="3950208"/>
          </a:xfrm>
          <a:prstGeom prst="rect">
            <a:avLst/>
          </a:prstGeom>
          <a:solidFill>
            <a:srgbClr val="132C5A"/>
          </a:solidFill>
          <a:ln w="12700">
            <a:solidFill>
              <a:srgbClr val="132C5A"/>
            </a:solidFill>
            <a:prstDash val="solid"/>
          </a:ln>
        </p:spPr>
      </p:sp>
      <p:sp>
        <p:nvSpPr>
          <p:cNvPr id="6" name="Shape 4"/>
          <p:cNvSpPr/>
          <p:nvPr/>
        </p:nvSpPr>
        <p:spPr>
          <a:xfrm>
            <a:off x="256032" y="914400"/>
            <a:ext cx="4160520" cy="365760"/>
          </a:xfrm>
          <a:prstGeom prst="rect">
            <a:avLst/>
          </a:prstGeom>
          <a:solidFill>
            <a:srgbClr val="1565C0"/>
          </a:solidFill>
          <a:ln w="12700">
            <a:solidFill>
              <a:srgbClr val="1565C0"/>
            </a:solidFill>
            <a:prstDash val="solid"/>
          </a:ln>
        </p:spPr>
      </p:sp>
      <p:sp>
        <p:nvSpPr>
          <p:cNvPr id="7" name="Text 5"/>
          <p:cNvSpPr/>
          <p:nvPr/>
        </p:nvSpPr>
        <p:spPr>
          <a:xfrm>
            <a:off x="347472" y="932688"/>
            <a:ext cx="3977640"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ResNet-34 — The 128-Number Fingerprint</a:t>
            </a:r>
            <a:endParaRPr lang="en-US" sz="1200" dirty="0"/>
          </a:p>
        </p:txBody>
      </p:sp>
      <p:sp>
        <p:nvSpPr>
          <p:cNvPr id="8" name="Shape 6"/>
          <p:cNvSpPr/>
          <p:nvPr/>
        </p:nvSpPr>
        <p:spPr>
          <a:xfrm>
            <a:off x="384048" y="1435608"/>
            <a:ext cx="118872" cy="118872"/>
          </a:xfrm>
          <a:prstGeom prst="rect">
            <a:avLst/>
          </a:prstGeom>
          <a:solidFill>
            <a:srgbClr val="00BCD4"/>
          </a:solidFill>
          <a:ln w="12700">
            <a:solidFill>
              <a:srgbClr val="00BCD4"/>
            </a:solidFill>
            <a:prstDash val="solid"/>
          </a:ln>
        </p:spPr>
      </p:sp>
      <p:sp>
        <p:nvSpPr>
          <p:cNvPr id="9" name="Text 7"/>
          <p:cNvSpPr/>
          <p:nvPr/>
        </p:nvSpPr>
        <p:spPr>
          <a:xfrm>
            <a:off x="566928" y="1371600"/>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34 layers deep — a very powerful neural network</a:t>
            </a:r>
            <a:endParaRPr lang="en-US" sz="1000" dirty="0"/>
          </a:p>
        </p:txBody>
      </p:sp>
      <p:sp>
        <p:nvSpPr>
          <p:cNvPr id="10" name="Shape 8"/>
          <p:cNvSpPr/>
          <p:nvPr/>
        </p:nvSpPr>
        <p:spPr>
          <a:xfrm>
            <a:off x="384048" y="1764792"/>
            <a:ext cx="118872" cy="118872"/>
          </a:xfrm>
          <a:prstGeom prst="rect">
            <a:avLst/>
          </a:prstGeom>
          <a:solidFill>
            <a:srgbClr val="00BCD4"/>
          </a:solidFill>
          <a:ln w="12700">
            <a:solidFill>
              <a:srgbClr val="00BCD4"/>
            </a:solidFill>
            <a:prstDash val="solid"/>
          </a:ln>
        </p:spPr>
      </p:sp>
      <p:sp>
        <p:nvSpPr>
          <p:cNvPr id="11" name="Text 9"/>
          <p:cNvSpPr/>
          <p:nvPr/>
        </p:nvSpPr>
        <p:spPr>
          <a:xfrm>
            <a:off x="566928" y="1700784"/>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Trained on 3 million face photos (LFW dataset)</a:t>
            </a:r>
            <a:endParaRPr lang="en-US" sz="1000" dirty="0"/>
          </a:p>
        </p:txBody>
      </p:sp>
      <p:sp>
        <p:nvSpPr>
          <p:cNvPr id="12" name="Shape 10"/>
          <p:cNvSpPr/>
          <p:nvPr/>
        </p:nvSpPr>
        <p:spPr>
          <a:xfrm>
            <a:off x="384048" y="2093976"/>
            <a:ext cx="118872" cy="118872"/>
          </a:xfrm>
          <a:prstGeom prst="rect">
            <a:avLst/>
          </a:prstGeom>
          <a:solidFill>
            <a:srgbClr val="00BCD4"/>
          </a:solidFill>
          <a:ln w="12700">
            <a:solidFill>
              <a:srgbClr val="00BCD4"/>
            </a:solidFill>
            <a:prstDash val="solid"/>
          </a:ln>
        </p:spPr>
      </p:sp>
      <p:sp>
        <p:nvSpPr>
          <p:cNvPr id="13" name="Text 11"/>
          <p:cNvSpPr/>
          <p:nvPr/>
        </p:nvSpPr>
        <p:spPr>
          <a:xfrm>
            <a:off x="566928" y="2029968"/>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Converts any face into exactly 128 numbers</a:t>
            </a:r>
            <a:endParaRPr lang="en-US" sz="1000" dirty="0"/>
          </a:p>
        </p:txBody>
      </p:sp>
      <p:sp>
        <p:nvSpPr>
          <p:cNvPr id="14" name="Shape 12"/>
          <p:cNvSpPr/>
          <p:nvPr/>
        </p:nvSpPr>
        <p:spPr>
          <a:xfrm>
            <a:off x="384048" y="2423160"/>
            <a:ext cx="118872" cy="118872"/>
          </a:xfrm>
          <a:prstGeom prst="rect">
            <a:avLst/>
          </a:prstGeom>
          <a:solidFill>
            <a:srgbClr val="00BCD4"/>
          </a:solidFill>
          <a:ln w="12700">
            <a:solidFill>
              <a:srgbClr val="00BCD4"/>
            </a:solidFill>
            <a:prstDash val="solid"/>
          </a:ln>
        </p:spPr>
      </p:sp>
      <p:sp>
        <p:nvSpPr>
          <p:cNvPr id="15" name="Text 13"/>
          <p:cNvSpPr/>
          <p:nvPr/>
        </p:nvSpPr>
        <p:spPr>
          <a:xfrm>
            <a:off x="566928" y="2359152"/>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Skip connections prevent training from breaking down</a:t>
            </a:r>
            <a:endParaRPr lang="en-US" sz="1000" dirty="0"/>
          </a:p>
        </p:txBody>
      </p:sp>
      <p:sp>
        <p:nvSpPr>
          <p:cNvPr id="16" name="Shape 14"/>
          <p:cNvSpPr/>
          <p:nvPr/>
        </p:nvSpPr>
        <p:spPr>
          <a:xfrm>
            <a:off x="384048" y="2752344"/>
            <a:ext cx="118872" cy="118872"/>
          </a:xfrm>
          <a:prstGeom prst="rect">
            <a:avLst/>
          </a:prstGeom>
          <a:solidFill>
            <a:srgbClr val="00BCD4"/>
          </a:solidFill>
          <a:ln w="12700">
            <a:solidFill>
              <a:srgbClr val="00BCD4"/>
            </a:solidFill>
            <a:prstDash val="solid"/>
          </a:ln>
        </p:spPr>
      </p:sp>
      <p:sp>
        <p:nvSpPr>
          <p:cNvPr id="17" name="Text 15"/>
          <p:cNvSpPr/>
          <p:nvPr/>
        </p:nvSpPr>
        <p:spPr>
          <a:xfrm>
            <a:off x="566928" y="2688336"/>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Fine-tuned with Triplet Loss for face verification</a:t>
            </a:r>
            <a:endParaRPr lang="en-US" sz="1000" dirty="0"/>
          </a:p>
        </p:txBody>
      </p:sp>
      <p:sp>
        <p:nvSpPr>
          <p:cNvPr id="18" name="Shape 16"/>
          <p:cNvSpPr/>
          <p:nvPr/>
        </p:nvSpPr>
        <p:spPr>
          <a:xfrm>
            <a:off x="384048" y="3081528"/>
            <a:ext cx="118872" cy="118872"/>
          </a:xfrm>
          <a:prstGeom prst="rect">
            <a:avLst/>
          </a:prstGeom>
          <a:solidFill>
            <a:srgbClr val="00BCD4"/>
          </a:solidFill>
          <a:ln w="12700">
            <a:solidFill>
              <a:srgbClr val="00BCD4"/>
            </a:solidFill>
            <a:prstDash val="solid"/>
          </a:ln>
        </p:spPr>
      </p:sp>
      <p:sp>
        <p:nvSpPr>
          <p:cNvPr id="19" name="Text 17"/>
          <p:cNvSpPr/>
          <p:nvPr/>
        </p:nvSpPr>
        <p:spPr>
          <a:xfrm>
            <a:off x="566928" y="3017520"/>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Same person → always similar 128 numbers</a:t>
            </a:r>
            <a:endParaRPr lang="en-US" sz="1000" dirty="0"/>
          </a:p>
        </p:txBody>
      </p:sp>
      <p:sp>
        <p:nvSpPr>
          <p:cNvPr id="20" name="Shape 18"/>
          <p:cNvSpPr/>
          <p:nvPr/>
        </p:nvSpPr>
        <p:spPr>
          <a:xfrm>
            <a:off x="384048" y="3410712"/>
            <a:ext cx="118872" cy="118872"/>
          </a:xfrm>
          <a:prstGeom prst="rect">
            <a:avLst/>
          </a:prstGeom>
          <a:solidFill>
            <a:srgbClr val="00BCD4"/>
          </a:solidFill>
          <a:ln w="12700">
            <a:solidFill>
              <a:srgbClr val="00BCD4"/>
            </a:solidFill>
            <a:prstDash val="solid"/>
          </a:ln>
        </p:spPr>
      </p:sp>
      <p:sp>
        <p:nvSpPr>
          <p:cNvPr id="21" name="Text 19"/>
          <p:cNvSpPr/>
          <p:nvPr/>
        </p:nvSpPr>
        <p:spPr>
          <a:xfrm>
            <a:off x="566928" y="3346704"/>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Different people → very different 128 numbers</a:t>
            </a:r>
            <a:endParaRPr lang="en-US" sz="1000" dirty="0"/>
          </a:p>
        </p:txBody>
      </p:sp>
      <p:sp>
        <p:nvSpPr>
          <p:cNvPr id="22" name="Shape 20"/>
          <p:cNvSpPr/>
          <p:nvPr/>
        </p:nvSpPr>
        <p:spPr>
          <a:xfrm>
            <a:off x="384048" y="3739896"/>
            <a:ext cx="118872" cy="118872"/>
          </a:xfrm>
          <a:prstGeom prst="rect">
            <a:avLst/>
          </a:prstGeom>
          <a:solidFill>
            <a:srgbClr val="00BCD4"/>
          </a:solidFill>
          <a:ln w="12700">
            <a:solidFill>
              <a:srgbClr val="00BCD4"/>
            </a:solidFill>
            <a:prstDash val="solid"/>
          </a:ln>
        </p:spPr>
      </p:sp>
      <p:sp>
        <p:nvSpPr>
          <p:cNvPr id="23" name="Text 21"/>
          <p:cNvSpPr/>
          <p:nvPr/>
        </p:nvSpPr>
        <p:spPr>
          <a:xfrm>
            <a:off x="566928" y="3675888"/>
            <a:ext cx="3749040" cy="256032"/>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Output is approximately a unit vector (length ≈ 1.0)</a:t>
            </a:r>
            <a:endParaRPr lang="en-US" sz="1000" dirty="0"/>
          </a:p>
        </p:txBody>
      </p:sp>
      <p:sp>
        <p:nvSpPr>
          <p:cNvPr id="24" name="Shape 22"/>
          <p:cNvSpPr/>
          <p:nvPr/>
        </p:nvSpPr>
        <p:spPr>
          <a:xfrm>
            <a:off x="329184" y="4114800"/>
            <a:ext cx="4023360" cy="640080"/>
          </a:xfrm>
          <a:prstGeom prst="rect">
            <a:avLst/>
          </a:prstGeom>
          <a:solidFill>
            <a:srgbClr val="0D1828"/>
          </a:solidFill>
          <a:ln w="12700">
            <a:solidFill>
              <a:srgbClr val="0D1828"/>
            </a:solidFill>
            <a:prstDash val="solid"/>
          </a:ln>
        </p:spPr>
      </p:sp>
      <p:sp>
        <p:nvSpPr>
          <p:cNvPr id="25" name="Text 23"/>
          <p:cNvSpPr/>
          <p:nvPr/>
        </p:nvSpPr>
        <p:spPr>
          <a:xfrm>
            <a:off x="365760" y="4133088"/>
            <a:ext cx="3950208" cy="603504"/>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face_encodings = face_recognition.face_encodings(</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frame_rgb, face_locations)</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Returns: array of shape (128,) — dtype float64</a:t>
            </a:r>
            <a:endParaRPr lang="en-US" sz="850" dirty="0"/>
          </a:p>
        </p:txBody>
      </p:sp>
      <p:sp>
        <p:nvSpPr>
          <p:cNvPr id="26" name="Shape 24"/>
          <p:cNvSpPr/>
          <p:nvPr/>
        </p:nvSpPr>
        <p:spPr>
          <a:xfrm>
            <a:off x="4681728" y="914400"/>
            <a:ext cx="4206240" cy="3950208"/>
          </a:xfrm>
          <a:prstGeom prst="rect">
            <a:avLst/>
          </a:prstGeom>
          <a:solidFill>
            <a:srgbClr val="132C5A"/>
          </a:solidFill>
          <a:ln w="12700">
            <a:solidFill>
              <a:srgbClr val="132C5A"/>
            </a:solidFill>
            <a:prstDash val="solid"/>
          </a:ln>
        </p:spPr>
      </p:sp>
      <p:sp>
        <p:nvSpPr>
          <p:cNvPr id="27" name="Shape 25"/>
          <p:cNvSpPr/>
          <p:nvPr/>
        </p:nvSpPr>
        <p:spPr>
          <a:xfrm>
            <a:off x="4681728" y="914400"/>
            <a:ext cx="4206240" cy="365760"/>
          </a:xfrm>
          <a:prstGeom prst="rect">
            <a:avLst/>
          </a:prstGeom>
          <a:solidFill>
            <a:srgbClr val="6A1B9A"/>
          </a:solidFill>
          <a:ln w="12700">
            <a:solidFill>
              <a:srgbClr val="6A1B9A"/>
            </a:solidFill>
            <a:prstDash val="solid"/>
          </a:ln>
        </p:spPr>
      </p:sp>
      <p:sp>
        <p:nvSpPr>
          <p:cNvPr id="28" name="Text 26"/>
          <p:cNvSpPr/>
          <p:nvPr/>
        </p:nvSpPr>
        <p:spPr>
          <a:xfrm>
            <a:off x="4773168" y="932688"/>
            <a:ext cx="4023360" cy="329184"/>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Euclidean Distance — Who Is This Person?</a:t>
            </a:r>
            <a:endParaRPr lang="en-US" sz="1200" dirty="0"/>
          </a:p>
        </p:txBody>
      </p:sp>
      <p:sp>
        <p:nvSpPr>
          <p:cNvPr id="29" name="Text 27"/>
          <p:cNvSpPr/>
          <p:nvPr/>
        </p:nvSpPr>
        <p:spPr>
          <a:xfrm>
            <a:off x="4754880" y="1371600"/>
            <a:ext cx="4114800" cy="320040"/>
          </a:xfrm>
          <a:prstGeom prst="rect">
            <a:avLst/>
          </a:prstGeom>
          <a:noFill/>
          <a:ln/>
        </p:spPr>
        <p:txBody>
          <a:bodyPr wrap="square" rtlCol="0" anchor="ctr"/>
          <a:lstStyle/>
          <a:p>
            <a:pPr algn="ctr" indent="0" marL="0">
              <a:buNone/>
            </a:pPr>
            <a:r>
              <a:rPr lang="en-US" sz="1200" b="1" dirty="0">
                <a:solidFill>
                  <a:srgbClr val="00BCD4"/>
                </a:solidFill>
                <a:latin typeface="Calibri" pitchFamily="34" charset="0"/>
                <a:ea typeface="Calibri" pitchFamily="34" charset="-122"/>
                <a:cs typeface="Calibri" pitchFamily="34" charset="-120"/>
              </a:rPr>
              <a:t>d(A,B) = √ Σ (Aᵢ − Bᵢ)²   for i = 0 → 127</a:t>
            </a:r>
            <a:endParaRPr lang="en-US" sz="1200" dirty="0"/>
          </a:p>
        </p:txBody>
      </p:sp>
      <p:sp>
        <p:nvSpPr>
          <p:cNvPr id="30" name="Text 28"/>
          <p:cNvSpPr/>
          <p:nvPr/>
        </p:nvSpPr>
        <p:spPr>
          <a:xfrm>
            <a:off x="4773168" y="1737360"/>
            <a:ext cx="4069080" cy="777240"/>
          </a:xfrm>
          <a:prstGeom prst="rect">
            <a:avLst/>
          </a:prstGeom>
          <a:noFill/>
          <a:ln/>
        </p:spPr>
        <p:txBody>
          <a:bodyPr wrap="square" rtlCol="0" anchor="ctr"/>
          <a:lstStyle/>
          <a:p>
            <a:pPr indent="0" marL="0">
              <a:buNone/>
            </a:pPr>
            <a:r>
              <a:rPr lang="en-US" sz="1000" dirty="0">
                <a:solidFill>
                  <a:srgbClr val="CBD5E1"/>
                </a:solidFill>
                <a:latin typeface="Calibri" pitchFamily="34" charset="0"/>
                <a:ea typeface="Calibri" pitchFamily="34" charset="-122"/>
                <a:cs typeface="Calibri" pitchFamily="34" charset="-120"/>
              </a:rPr>
              <a:t>We compare the live face's 128 numbers against every stored student's 128 numbers. The student with the smallest difference is the best match. If that difference is below our threshold of 0.50, the student is verified.</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681728" y="2560320"/>
          <a:ext cx="4206240" cy="1170432"/>
        </p:xfrm>
        <a:graphic>
          <a:graphicData uri="http://schemas.openxmlformats.org/drawingml/2006/table">
            <a:tbl>
              <a:tblPr/>
              <a:tblGrid>
                <a:gridCol w="1234440"/>
                <a:gridCol w="1828800"/>
                <a:gridCol w="1143000"/>
              </a:tblGrid>
              <a:tr h="234086">
                <a:tc>
                  <a:txBody>
                    <a:bodyPr/>
                    <a:lstStyle/>
                    <a:p>
                      <a:pPr indent="0" marL="0">
                        <a:buNone/>
                      </a:pPr>
                      <a:r>
                        <a:rPr lang="en-US" sz="1000" b="1" dirty="0">
                          <a:solidFill>
                            <a:srgbClr val="FFFFFF"/>
                          </a:solidFill>
                        </a:rPr>
                        <a:t>Distance</a:t>
                      </a:r>
                      <a:endParaRPr lang="en-US" sz="100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solidFill>
                      <a:srgbClr val="3A0070"/>
                    </a:solidFill>
                  </a:tcPr>
                </a:tc>
                <a:tc>
                  <a:txBody>
                    <a:bodyPr/>
                    <a:lstStyle/>
                    <a:p>
                      <a:pPr indent="0" marL="0">
                        <a:buNone/>
                      </a:pPr>
                      <a:r>
                        <a:rPr lang="en-US" sz="1000" b="1" dirty="0">
                          <a:solidFill>
                            <a:srgbClr val="FFFFFF"/>
                          </a:solidFill>
                        </a:rPr>
                        <a:t>Meaning</a:t>
                      </a:r>
                      <a:endParaRPr lang="en-US" sz="100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solidFill>
                      <a:srgbClr val="3A0070"/>
                    </a:solidFill>
                  </a:tcPr>
                </a:tc>
                <a:tc>
                  <a:txBody>
                    <a:bodyPr/>
                    <a:lstStyle/>
                    <a:p>
                      <a:pPr indent="0" marL="0">
                        <a:buNone/>
                      </a:pPr>
                      <a:r>
                        <a:rPr lang="en-US" sz="1000" b="1" dirty="0">
                          <a:solidFill>
                            <a:srgbClr val="FFFFFF"/>
                          </a:solidFill>
                        </a:rPr>
                        <a:t>Result</a:t>
                      </a:r>
                      <a:endParaRPr lang="en-US" sz="100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solidFill>
                      <a:srgbClr val="3A0070"/>
                    </a:solidFill>
                  </a:tcPr>
                </a:tc>
              </a:tr>
              <a:tr h="234086">
                <a:tc>
                  <a:txBody>
                    <a:bodyPr/>
                    <a:lstStyle/>
                    <a:p>
                      <a:pPr indent="0" marL="0">
                        <a:buNone/>
                      </a:pPr>
                      <a:r>
                        <a:rPr lang="en-US" sz="950" dirty="0">
                          <a:solidFill>
                            <a:srgbClr val="000000"/>
                          </a:solidFill>
                        </a:rPr>
                        <a:t>0.00–0.30</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dirty="0">
                          <a:solidFill>
                            <a:srgbClr val="000000"/>
                          </a:solidFill>
                        </a:rPr>
                        <a:t>Very high confidence</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b="1" dirty="0">
                          <a:solidFill>
                            <a:srgbClr val="2E7D32"/>
                          </a:solidFill>
                        </a:rPr>
                        <a:t>✓ Verified</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r>
              <a:tr h="234086">
                <a:tc>
                  <a:txBody>
                    <a:bodyPr/>
                    <a:lstStyle/>
                    <a:p>
                      <a:pPr indent="0" marL="0">
                        <a:buNone/>
                      </a:pPr>
                      <a:r>
                        <a:rPr lang="en-US" sz="950" dirty="0">
                          <a:solidFill>
                            <a:srgbClr val="000000"/>
                          </a:solidFill>
                        </a:rPr>
                        <a:t>0.30–0.50</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dirty="0">
                          <a:solidFill>
                            <a:srgbClr val="000000"/>
                          </a:solidFill>
                        </a:rPr>
                        <a:t>Normal real-world match</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b="1" dirty="0">
                          <a:solidFill>
                            <a:srgbClr val="2E7D32"/>
                          </a:solidFill>
                        </a:rPr>
                        <a:t>✓ Verified</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r>
              <a:tr h="234086">
                <a:tc>
                  <a:txBody>
                    <a:bodyPr/>
                    <a:lstStyle/>
                    <a:p>
                      <a:pPr indent="0" marL="0">
                        <a:buNone/>
                      </a:pPr>
                      <a:r>
                        <a:rPr lang="en-US" sz="950" dirty="0">
                          <a:solidFill>
                            <a:srgbClr val="000000"/>
                          </a:solidFill>
                        </a:rPr>
                        <a:t>0.50–0.60</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dirty="0">
                          <a:solidFill>
                            <a:srgbClr val="000000"/>
                          </a:solidFill>
                        </a:rPr>
                        <a:t>Borderline — risky</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b="1" dirty="0">
                          <a:solidFill>
                            <a:srgbClr val="E65100"/>
                          </a:solidFill>
                        </a:rPr>
                        <a:t>✗ Rejected</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r>
              <a:tr h="234086">
                <a:tc>
                  <a:txBody>
                    <a:bodyPr/>
                    <a:lstStyle/>
                    <a:p>
                      <a:pPr indent="0" marL="0">
                        <a:buNone/>
                      </a:pPr>
                      <a:r>
                        <a:rPr lang="en-US" sz="950" dirty="0">
                          <a:solidFill>
                            <a:srgbClr val="000000"/>
                          </a:solidFill>
                        </a:rPr>
                        <a:t>0.60–1.0+</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dirty="0">
                          <a:solidFill>
                            <a:srgbClr val="000000"/>
                          </a:solidFill>
                        </a:rPr>
                        <a:t>Different person</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c>
                  <a:txBody>
                    <a:bodyPr/>
                    <a:lstStyle/>
                    <a:p>
                      <a:pPr indent="0" marL="0">
                        <a:buNone/>
                      </a:pPr>
                      <a:r>
                        <a:rPr lang="en-US" sz="950" b="1" dirty="0">
                          <a:solidFill>
                            <a:srgbClr val="C62828"/>
                          </a:solidFill>
                        </a:rPr>
                        <a:t>✗ Rejected</a:t>
                      </a:r>
                      <a:endParaRPr lang="en-US" sz="950" dirty="0"/>
                    </a:p>
                  </a:txBody>
                  <a:tcPr marL="91440" marR="91440" marT="45720" marB="45720">
                    <a:lnL w="6350" cap="flat" cmpd="sng" algn="ctr">
                      <a:solidFill>
                        <a:srgbClr val="4B0082"/>
                      </a:solidFill>
                      <a:prstDash val="solid"/>
                      <a:round/>
                      <a:headEnd type="none" w="med" len="med"/>
                      <a:tailEnd type="none" w="med" len="med"/>
                    </a:lnL>
                    <a:lnR w="6350" cap="flat" cmpd="sng" algn="ctr">
                      <a:solidFill>
                        <a:srgbClr val="4B0082"/>
                      </a:solidFill>
                      <a:prstDash val="solid"/>
                      <a:round/>
                      <a:headEnd type="none" w="med" len="med"/>
                      <a:tailEnd type="none" w="med" len="med"/>
                    </a:lnR>
                    <a:lnT w="6350" cap="flat" cmpd="sng" algn="ctr">
                      <a:solidFill>
                        <a:srgbClr val="4B0082"/>
                      </a:solidFill>
                      <a:prstDash val="solid"/>
                      <a:round/>
                      <a:headEnd type="none" w="med" len="med"/>
                      <a:tailEnd type="none" w="med" len="med"/>
                    </a:lnT>
                    <a:lnB w="6350" cap="flat" cmpd="sng" algn="ctr">
                      <a:solidFill>
                        <a:srgbClr val="4B0082"/>
                      </a:solidFill>
                      <a:prstDash val="solid"/>
                      <a:round/>
                      <a:headEnd type="none" w="med" len="med"/>
                      <a:tailEnd type="none" w="med" len="med"/>
                    </a:lnB>
                  </a:tcPr>
                </a:tc>
              </a:tr>
            </a:tbl>
          </a:graphicData>
        </a:graphic>
      </p:graphicFrame>
      <p:sp>
        <p:nvSpPr>
          <p:cNvPr id="32" name="Shape 29"/>
          <p:cNvSpPr/>
          <p:nvPr/>
        </p:nvSpPr>
        <p:spPr>
          <a:xfrm>
            <a:off x="4681728" y="3794760"/>
            <a:ext cx="4206240" cy="365760"/>
          </a:xfrm>
          <a:prstGeom prst="rect">
            <a:avLst/>
          </a:prstGeom>
          <a:solidFill>
            <a:srgbClr val="F9A825"/>
          </a:solidFill>
          <a:ln w="12700">
            <a:solidFill>
              <a:srgbClr val="F9A825"/>
            </a:solidFill>
            <a:prstDash val="solid"/>
          </a:ln>
        </p:spPr>
      </p:sp>
      <p:sp>
        <p:nvSpPr>
          <p:cNvPr id="33" name="Text 30"/>
          <p:cNvSpPr/>
          <p:nvPr/>
        </p:nvSpPr>
        <p:spPr>
          <a:xfrm>
            <a:off x="4754880" y="3822192"/>
            <a:ext cx="4059936" cy="310896"/>
          </a:xfrm>
          <a:prstGeom prst="rect">
            <a:avLst/>
          </a:prstGeom>
          <a:noFill/>
          <a:ln/>
        </p:spPr>
        <p:txBody>
          <a:bodyPr wrap="square" rtlCol="0" anchor="ctr"/>
          <a:lstStyle/>
          <a:p>
            <a:pPr algn="ctr" indent="0" marL="0">
              <a:buNone/>
            </a:pPr>
            <a:r>
              <a:rPr lang="en-US" sz="1100" b="1" dirty="0">
                <a:solidFill>
                  <a:srgbClr val="0B1F45"/>
                </a:solidFill>
                <a:latin typeface="Calibri" pitchFamily="34" charset="0"/>
                <a:ea typeface="Calibri" pitchFamily="34" charset="-122"/>
                <a:cs typeface="Calibri" pitchFamily="34" charset="-120"/>
              </a:rPr>
              <a:t>Our threshold: 0.50 — balanced between accuracy and flexibility</a:t>
            </a:r>
            <a:endParaRPr lang="en-US" sz="1100" dirty="0"/>
          </a:p>
        </p:txBody>
      </p:sp>
      <p:sp>
        <p:nvSpPr>
          <p:cNvPr id="34" name="Shape 31"/>
          <p:cNvSpPr/>
          <p:nvPr/>
        </p:nvSpPr>
        <p:spPr>
          <a:xfrm>
            <a:off x="4754880" y="4206240"/>
            <a:ext cx="4059936" cy="548640"/>
          </a:xfrm>
          <a:prstGeom prst="rect">
            <a:avLst/>
          </a:prstGeom>
          <a:solidFill>
            <a:srgbClr val="0D1828"/>
          </a:solidFill>
          <a:ln w="12700">
            <a:solidFill>
              <a:srgbClr val="0D1828"/>
            </a:solidFill>
            <a:prstDash val="solid"/>
          </a:ln>
        </p:spPr>
      </p:sp>
      <p:sp>
        <p:nvSpPr>
          <p:cNvPr id="35" name="Text 32"/>
          <p:cNvSpPr/>
          <p:nvPr/>
        </p:nvSpPr>
        <p:spPr>
          <a:xfrm>
            <a:off x="4773168" y="4224528"/>
            <a:ext cx="4023360" cy="512064"/>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distances = face_recognition.face_distance(known_enc, live_enc)</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best = np.argmin(distances)</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if distances[best] &lt;= 0.50: name = known_names[best]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06  Code &amp; Database — How It All Connects</a:t>
            </a:r>
            <a:endParaRPr lang="en-US" sz="2200" dirty="0"/>
          </a:p>
        </p:txBody>
      </p:sp>
      <p:sp>
        <p:nvSpPr>
          <p:cNvPr id="4" name="Shape 2"/>
          <p:cNvSpPr/>
          <p:nvPr/>
        </p:nvSpPr>
        <p:spPr>
          <a:xfrm>
            <a:off x="256032" y="960120"/>
            <a:ext cx="4160520" cy="201168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5" name="Shape 3"/>
          <p:cNvSpPr/>
          <p:nvPr/>
        </p:nvSpPr>
        <p:spPr>
          <a:xfrm>
            <a:off x="256032" y="960120"/>
            <a:ext cx="64008" cy="2011680"/>
          </a:xfrm>
          <a:prstGeom prst="rect">
            <a:avLst/>
          </a:prstGeom>
          <a:solidFill>
            <a:srgbClr val="1565C0"/>
          </a:solidFill>
          <a:ln w="12700">
            <a:solidFill>
              <a:srgbClr val="1565C0"/>
            </a:solidFill>
            <a:prstDash val="solid"/>
          </a:ln>
        </p:spPr>
      </p:sp>
      <p:sp>
        <p:nvSpPr>
          <p:cNvPr id="6" name="Text 4"/>
          <p:cNvSpPr/>
          <p:nvPr/>
        </p:nvSpPr>
        <p:spPr>
          <a:xfrm>
            <a:off x="384048" y="1033272"/>
            <a:ext cx="3913632"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load_known_faces()</a:t>
            </a:r>
            <a:endParaRPr lang="en-US" sz="1300" dirty="0"/>
          </a:p>
        </p:txBody>
      </p:sp>
      <p:sp>
        <p:nvSpPr>
          <p:cNvPr id="7" name="Text 5"/>
          <p:cNvSpPr/>
          <p:nvPr/>
        </p:nvSpPr>
        <p:spPr>
          <a:xfrm>
            <a:off x="384048" y="1344168"/>
            <a:ext cx="3913632" cy="8046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Runs once at startup. Reads every photo from the images/ folder, converts BGR→RGB, generates the 128-number fingerprint, and stores it in memory. If a photo has no detectable face it is skipped safely.</a:t>
            </a:r>
            <a:endParaRPr lang="en-US" sz="950" dirty="0"/>
          </a:p>
        </p:txBody>
      </p:sp>
      <p:sp>
        <p:nvSpPr>
          <p:cNvPr id="8" name="Shape 6"/>
          <p:cNvSpPr/>
          <p:nvPr/>
        </p:nvSpPr>
        <p:spPr>
          <a:xfrm>
            <a:off x="347472" y="2185416"/>
            <a:ext cx="3995928" cy="694944"/>
          </a:xfrm>
          <a:prstGeom prst="rect">
            <a:avLst/>
          </a:prstGeom>
          <a:solidFill>
            <a:srgbClr val="1A2A3F"/>
          </a:solidFill>
          <a:ln w="12700">
            <a:solidFill>
              <a:srgbClr val="1A2A3F"/>
            </a:solidFill>
            <a:prstDash val="solid"/>
          </a:ln>
        </p:spPr>
      </p:sp>
      <p:sp>
        <p:nvSpPr>
          <p:cNvPr id="9" name="Text 7"/>
          <p:cNvSpPr/>
          <p:nvPr/>
        </p:nvSpPr>
        <p:spPr>
          <a:xfrm>
            <a:off x="384048" y="2203704"/>
            <a:ext cx="3922776" cy="658368"/>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for file in os.listdir(IMAGE_FOLDER):</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img = cv2.cvtColor(img, COLOR_BGR2RGB)</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enc = face_recognition.face_encodings(img)[0]</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known_encodings.append(enc)</a:t>
            </a:r>
            <a:endParaRPr lang="en-US" sz="850" dirty="0"/>
          </a:p>
        </p:txBody>
      </p:sp>
      <p:sp>
        <p:nvSpPr>
          <p:cNvPr id="10" name="Shape 8"/>
          <p:cNvSpPr/>
          <p:nvPr/>
        </p:nvSpPr>
        <p:spPr>
          <a:xfrm>
            <a:off x="256032" y="3081528"/>
            <a:ext cx="4160520" cy="201168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1" name="Shape 9"/>
          <p:cNvSpPr/>
          <p:nvPr/>
        </p:nvSpPr>
        <p:spPr>
          <a:xfrm>
            <a:off x="256032" y="3081528"/>
            <a:ext cx="64008" cy="2011680"/>
          </a:xfrm>
          <a:prstGeom prst="rect">
            <a:avLst/>
          </a:prstGeom>
          <a:solidFill>
            <a:srgbClr val="6A1B9A"/>
          </a:solidFill>
          <a:ln w="12700">
            <a:solidFill>
              <a:srgbClr val="6A1B9A"/>
            </a:solidFill>
            <a:prstDash val="solid"/>
          </a:ln>
        </p:spPr>
      </p:sp>
      <p:sp>
        <p:nvSpPr>
          <p:cNvPr id="12" name="Text 10"/>
          <p:cNvSpPr/>
          <p:nvPr/>
        </p:nvSpPr>
        <p:spPr>
          <a:xfrm>
            <a:off x="384048" y="3154680"/>
            <a:ext cx="3913632"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gen_frames() Generator</a:t>
            </a:r>
            <a:endParaRPr lang="en-US" sz="1300" dirty="0"/>
          </a:p>
        </p:txBody>
      </p:sp>
      <p:sp>
        <p:nvSpPr>
          <p:cNvPr id="13" name="Text 11"/>
          <p:cNvSpPr/>
          <p:nvPr/>
        </p:nvSpPr>
        <p:spPr>
          <a:xfrm>
            <a:off x="384048" y="3465576"/>
            <a:ext cx="3913632" cy="8046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The live video function. It runs in an infinite loop, grabbing frames and sending them to the browser as a live video stream. In verification mode it runs all 11 preprocessing steps and the matching logic on every single frame.</a:t>
            </a:r>
            <a:endParaRPr lang="en-US" sz="950" dirty="0"/>
          </a:p>
        </p:txBody>
      </p:sp>
      <p:sp>
        <p:nvSpPr>
          <p:cNvPr id="14" name="Shape 12"/>
          <p:cNvSpPr/>
          <p:nvPr/>
        </p:nvSpPr>
        <p:spPr>
          <a:xfrm>
            <a:off x="347472" y="4306824"/>
            <a:ext cx="3995928" cy="694944"/>
          </a:xfrm>
          <a:prstGeom prst="rect">
            <a:avLst/>
          </a:prstGeom>
          <a:solidFill>
            <a:srgbClr val="1A2A3F"/>
          </a:solidFill>
          <a:ln w="12700">
            <a:solidFill>
              <a:srgbClr val="1A2A3F"/>
            </a:solidFill>
            <a:prstDash val="solid"/>
          </a:ln>
        </p:spPr>
      </p:sp>
      <p:sp>
        <p:nvSpPr>
          <p:cNvPr id="15" name="Text 13"/>
          <p:cNvSpPr/>
          <p:nvPr/>
        </p:nvSpPr>
        <p:spPr>
          <a:xfrm>
            <a:off x="384048" y="4325112"/>
            <a:ext cx="3922776" cy="658368"/>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while True:</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ret, frame = camera.read()</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 ... 11 preprocessing steps ...</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yield (b'--frame\r\n' + jpeg)</a:t>
            </a:r>
            <a:endParaRPr lang="en-US" sz="850" dirty="0"/>
          </a:p>
        </p:txBody>
      </p:sp>
      <p:sp>
        <p:nvSpPr>
          <p:cNvPr id="16" name="Shape 14"/>
          <p:cNvSpPr/>
          <p:nvPr/>
        </p:nvSpPr>
        <p:spPr>
          <a:xfrm>
            <a:off x="4681728" y="960120"/>
            <a:ext cx="4160520" cy="201168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17" name="Shape 15"/>
          <p:cNvSpPr/>
          <p:nvPr/>
        </p:nvSpPr>
        <p:spPr>
          <a:xfrm>
            <a:off x="4681728" y="960120"/>
            <a:ext cx="64008" cy="2011680"/>
          </a:xfrm>
          <a:prstGeom prst="rect">
            <a:avLst/>
          </a:prstGeom>
          <a:solidFill>
            <a:srgbClr val="E65100"/>
          </a:solidFill>
          <a:ln w="12700">
            <a:solidFill>
              <a:srgbClr val="E65100"/>
            </a:solidFill>
            <a:prstDash val="solid"/>
          </a:ln>
        </p:spPr>
      </p:sp>
      <p:sp>
        <p:nvSpPr>
          <p:cNvPr id="18" name="Text 16"/>
          <p:cNvSpPr/>
          <p:nvPr/>
        </p:nvSpPr>
        <p:spPr>
          <a:xfrm>
            <a:off x="4809744" y="1033272"/>
            <a:ext cx="3913632"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Duplicate Prevention</a:t>
            </a:r>
            <a:endParaRPr lang="en-US" sz="1300" dirty="0"/>
          </a:p>
        </p:txBody>
      </p:sp>
      <p:sp>
        <p:nvSpPr>
          <p:cNvPr id="19" name="Text 17"/>
          <p:cNvSpPr/>
          <p:nvPr/>
        </p:nvSpPr>
        <p:spPr>
          <a:xfrm>
            <a:off x="4809744" y="1344168"/>
            <a:ext cx="3913632" cy="8046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Without this, a student standing still for 5 seconds at 30 FPS would create 150 records. We check MongoDB: if the same student was logged in the same subject within 60 seconds, we skip the insert.</a:t>
            </a:r>
            <a:endParaRPr lang="en-US" sz="950" dirty="0"/>
          </a:p>
        </p:txBody>
      </p:sp>
      <p:sp>
        <p:nvSpPr>
          <p:cNvPr id="20" name="Shape 18"/>
          <p:cNvSpPr/>
          <p:nvPr/>
        </p:nvSpPr>
        <p:spPr>
          <a:xfrm>
            <a:off x="4773168" y="2185416"/>
            <a:ext cx="3995928" cy="694944"/>
          </a:xfrm>
          <a:prstGeom prst="rect">
            <a:avLst/>
          </a:prstGeom>
          <a:solidFill>
            <a:srgbClr val="1A2A3F"/>
          </a:solidFill>
          <a:ln w="12700">
            <a:solidFill>
              <a:srgbClr val="1A2A3F"/>
            </a:solidFill>
            <a:prstDash val="solid"/>
          </a:ln>
        </p:spPr>
      </p:sp>
      <p:sp>
        <p:nvSpPr>
          <p:cNvPr id="21" name="Text 19"/>
          <p:cNvSpPr/>
          <p:nvPr/>
        </p:nvSpPr>
        <p:spPr>
          <a:xfrm>
            <a:off x="4809744" y="2203704"/>
            <a:ext cx="3922776" cy="658368"/>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last = collection.find_one(</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{name, subject},</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sort=[(timestamp,-1)])</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if diff &lt; 60: skip_log = True</a:t>
            </a:r>
            <a:endParaRPr lang="en-US" sz="850" dirty="0"/>
          </a:p>
        </p:txBody>
      </p:sp>
      <p:sp>
        <p:nvSpPr>
          <p:cNvPr id="22" name="Shape 20"/>
          <p:cNvSpPr/>
          <p:nvPr/>
        </p:nvSpPr>
        <p:spPr>
          <a:xfrm>
            <a:off x="4681728" y="3081528"/>
            <a:ext cx="4160520" cy="2011680"/>
          </a:xfrm>
          <a:prstGeom prst="rect">
            <a:avLst/>
          </a:prstGeom>
          <a:solidFill>
            <a:srgbClr val="FFFFFF"/>
          </a:solidFill>
          <a:ln w="12700">
            <a:solidFill>
              <a:srgbClr val="C5D8EE"/>
            </a:solidFill>
            <a:prstDash val="solid"/>
          </a:ln>
          <a:effectLst>
            <a:outerShdw sx="100000" sy="100000" kx="0" ky="0" algn="bl" rotWithShape="0" blurRad="76200" dist="25400" dir="8100000">
              <a:srgbClr val="000000">
                <a:alpha val="8000"/>
              </a:srgbClr>
            </a:outerShdw>
          </a:effectLst>
        </p:spPr>
      </p:sp>
      <p:sp>
        <p:nvSpPr>
          <p:cNvPr id="23" name="Shape 21"/>
          <p:cNvSpPr/>
          <p:nvPr/>
        </p:nvSpPr>
        <p:spPr>
          <a:xfrm>
            <a:off x="4681728" y="3081528"/>
            <a:ext cx="64008" cy="2011680"/>
          </a:xfrm>
          <a:prstGeom prst="rect">
            <a:avLst/>
          </a:prstGeom>
          <a:solidFill>
            <a:srgbClr val="2E7D32"/>
          </a:solidFill>
          <a:ln w="12700">
            <a:solidFill>
              <a:srgbClr val="2E7D32"/>
            </a:solidFill>
            <a:prstDash val="solid"/>
          </a:ln>
        </p:spPr>
      </p:sp>
      <p:sp>
        <p:nvSpPr>
          <p:cNvPr id="24" name="Text 22"/>
          <p:cNvSpPr/>
          <p:nvPr/>
        </p:nvSpPr>
        <p:spPr>
          <a:xfrm>
            <a:off x="4809744" y="3154680"/>
            <a:ext cx="3913632" cy="274320"/>
          </a:xfrm>
          <a:prstGeom prst="rect">
            <a:avLst/>
          </a:prstGeom>
          <a:noFill/>
          <a:ln/>
        </p:spPr>
        <p:txBody>
          <a:bodyPr wrap="square" rtlCol="0" anchor="ctr"/>
          <a:lstStyle/>
          <a:p>
            <a:pPr indent="0" marL="0">
              <a:buNone/>
            </a:pPr>
            <a:r>
              <a:rPr lang="en-US" sz="1300" b="1" dirty="0">
                <a:solidFill>
                  <a:srgbClr val="0B1F45"/>
                </a:solidFill>
                <a:latin typeface="Calibri" pitchFamily="34" charset="0"/>
                <a:ea typeface="Calibri" pitchFamily="34" charset="-122"/>
                <a:cs typeface="Calibri" pitchFamily="34" charset="-120"/>
              </a:rPr>
              <a:t>MongoDB Attendance Log</a:t>
            </a:r>
            <a:endParaRPr lang="en-US" sz="1300" dirty="0"/>
          </a:p>
        </p:txBody>
      </p:sp>
      <p:sp>
        <p:nvSpPr>
          <p:cNvPr id="25" name="Text 23"/>
          <p:cNvSpPr/>
          <p:nvPr/>
        </p:nvSpPr>
        <p:spPr>
          <a:xfrm>
            <a:off x="4809744" y="3465576"/>
            <a:ext cx="3913632" cy="80467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Every verified attendance creates one document in MongoDB with three fields: the student name (from the image filename), the subject (from the URL), and the exact timestamp of verification.</a:t>
            </a:r>
            <a:endParaRPr lang="en-US" sz="950" dirty="0"/>
          </a:p>
        </p:txBody>
      </p:sp>
      <p:sp>
        <p:nvSpPr>
          <p:cNvPr id="26" name="Shape 24"/>
          <p:cNvSpPr/>
          <p:nvPr/>
        </p:nvSpPr>
        <p:spPr>
          <a:xfrm>
            <a:off x="4773168" y="4306824"/>
            <a:ext cx="3995928" cy="694944"/>
          </a:xfrm>
          <a:prstGeom prst="rect">
            <a:avLst/>
          </a:prstGeom>
          <a:solidFill>
            <a:srgbClr val="1A2A3F"/>
          </a:solidFill>
          <a:ln w="12700">
            <a:solidFill>
              <a:srgbClr val="1A2A3F"/>
            </a:solidFill>
            <a:prstDash val="solid"/>
          </a:ln>
        </p:spPr>
      </p:sp>
      <p:sp>
        <p:nvSpPr>
          <p:cNvPr id="27" name="Text 25"/>
          <p:cNvSpPr/>
          <p:nvPr/>
        </p:nvSpPr>
        <p:spPr>
          <a:xfrm>
            <a:off x="4809744" y="4325112"/>
            <a:ext cx="3922776" cy="658368"/>
          </a:xfrm>
          <a:prstGeom prst="rect">
            <a:avLst/>
          </a:prstGeom>
          <a:noFill/>
          <a:ln/>
        </p:spPr>
        <p:txBody>
          <a:bodyPr wrap="square" rtlCol="0" anchor="ctr"/>
          <a:lstStyle/>
          <a:p>
            <a:pPr indent="0" marL="0">
              <a:buNone/>
            </a:pPr>
            <a:r>
              <a:rPr lang="en-US" sz="850" dirty="0">
                <a:solidFill>
                  <a:srgbClr val="A6E3A1"/>
                </a:solidFill>
                <a:latin typeface="Courier New" pitchFamily="34" charset="0"/>
                <a:ea typeface="Courier New" pitchFamily="34" charset="-122"/>
                <a:cs typeface="Courier New" pitchFamily="34" charset="-120"/>
              </a:rPr>
              <a:t>collection.insert_one({</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"name":      name,</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"subject":   subject,</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  "timestamp": datetime.now()</a:t>
            </a:r>
            <a:endParaRPr lang="en-US" sz="850" dirty="0"/>
          </a:p>
          <a:p>
            <a:pPr indent="0" marL="0">
              <a:buNone/>
            </a:pPr>
            <a:r>
              <a:rPr lang="en-US" sz="850" dirty="0">
                <a:solidFill>
                  <a:srgbClr val="A6E3A1"/>
                </a:solidFill>
                <a:latin typeface="Courier New" pitchFamily="34" charset="0"/>
                <a:ea typeface="Courier New" pitchFamily="34" charset="-122"/>
                <a:cs typeface="Courier New" pitchFamily="34" charset="-120"/>
              </a:rPr>
              <a: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B1F45"/>
          </a:solidFill>
          <a:ln w="12700">
            <a:solidFill>
              <a:srgbClr val="0B1F45"/>
            </a:solidFill>
            <a:prstDash val="solid"/>
          </a:ln>
        </p:spPr>
      </p:sp>
      <p:sp>
        <p:nvSpPr>
          <p:cNvPr id="3" name="Text 1"/>
          <p:cNvSpPr/>
          <p:nvPr/>
        </p:nvSpPr>
        <p:spPr>
          <a:xfrm>
            <a:off x="365760" y="91440"/>
            <a:ext cx="8412480" cy="658368"/>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07  Progress Review — What We Have Done &amp; What Is Next</a:t>
            </a:r>
            <a:endParaRPr lang="en-US" sz="2200" dirty="0"/>
          </a:p>
        </p:txBody>
      </p:sp>
      <p:sp>
        <p:nvSpPr>
          <p:cNvPr id="4" name="Shape 2"/>
          <p:cNvSpPr/>
          <p:nvPr/>
        </p:nvSpPr>
        <p:spPr>
          <a:xfrm>
            <a:off x="256032" y="960120"/>
            <a:ext cx="4206240" cy="4041648"/>
          </a:xfrm>
          <a:prstGeom prst="rect">
            <a:avLst/>
          </a:prstGeom>
          <a:solidFill>
            <a:srgbClr val="E8F5E9"/>
          </a:solidFill>
          <a:ln w="15240">
            <a:solidFill>
              <a:srgbClr val="A5D6A7"/>
            </a:solidFill>
            <a:prstDash val="solid"/>
          </a:ln>
        </p:spPr>
      </p:sp>
      <p:sp>
        <p:nvSpPr>
          <p:cNvPr id="5" name="Shape 3"/>
          <p:cNvSpPr/>
          <p:nvPr/>
        </p:nvSpPr>
        <p:spPr>
          <a:xfrm>
            <a:off x="256032" y="960120"/>
            <a:ext cx="4206240" cy="347472"/>
          </a:xfrm>
          <a:prstGeom prst="rect">
            <a:avLst/>
          </a:prstGeom>
          <a:solidFill>
            <a:srgbClr val="2E7D32"/>
          </a:solidFill>
          <a:ln w="12700">
            <a:solidFill>
              <a:srgbClr val="2E7D32"/>
            </a:solidFill>
            <a:prstDash val="solid"/>
          </a:ln>
        </p:spPr>
      </p:sp>
      <p:sp>
        <p:nvSpPr>
          <p:cNvPr id="6" name="Text 4"/>
          <p:cNvSpPr/>
          <p:nvPr/>
        </p:nvSpPr>
        <p:spPr>
          <a:xfrm>
            <a:off x="329184" y="978408"/>
            <a:ext cx="406908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COMPLETED</a:t>
            </a:r>
            <a:endParaRPr lang="en-US" sz="1300" dirty="0"/>
          </a:p>
        </p:txBody>
      </p:sp>
      <p:sp>
        <p:nvSpPr>
          <p:cNvPr id="7" name="Shape 5"/>
          <p:cNvSpPr/>
          <p:nvPr/>
        </p:nvSpPr>
        <p:spPr>
          <a:xfrm>
            <a:off x="402336" y="1453896"/>
            <a:ext cx="118872" cy="118872"/>
          </a:xfrm>
          <a:prstGeom prst="rect">
            <a:avLst/>
          </a:prstGeom>
          <a:solidFill>
            <a:srgbClr val="2E7D32"/>
          </a:solidFill>
          <a:ln w="12700">
            <a:solidFill>
              <a:srgbClr val="2E7D32"/>
            </a:solidFill>
            <a:prstDash val="solid"/>
          </a:ln>
        </p:spPr>
      </p:sp>
      <p:sp>
        <p:nvSpPr>
          <p:cNvPr id="8" name="Text 6"/>
          <p:cNvSpPr/>
          <p:nvPr/>
        </p:nvSpPr>
        <p:spPr>
          <a:xfrm>
            <a:off x="585216" y="138988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Full 11-step image preprocessing pipeline implemented</a:t>
            </a:r>
            <a:endParaRPr lang="en-US" sz="950" dirty="0"/>
          </a:p>
        </p:txBody>
      </p:sp>
      <p:sp>
        <p:nvSpPr>
          <p:cNvPr id="9" name="Shape 7"/>
          <p:cNvSpPr/>
          <p:nvPr/>
        </p:nvSpPr>
        <p:spPr>
          <a:xfrm>
            <a:off x="402336" y="1728216"/>
            <a:ext cx="118872" cy="118872"/>
          </a:xfrm>
          <a:prstGeom prst="rect">
            <a:avLst/>
          </a:prstGeom>
          <a:solidFill>
            <a:srgbClr val="2E7D32"/>
          </a:solidFill>
          <a:ln w="12700">
            <a:solidFill>
              <a:srgbClr val="2E7D32"/>
            </a:solidFill>
            <a:prstDash val="solid"/>
          </a:ln>
        </p:spPr>
      </p:sp>
      <p:sp>
        <p:nvSpPr>
          <p:cNvPr id="10" name="Text 8"/>
          <p:cNvSpPr/>
          <p:nvPr/>
        </p:nvSpPr>
        <p:spPr>
          <a:xfrm>
            <a:off x="585216" y="166420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HOG face detection running at real-time speed</a:t>
            </a:r>
            <a:endParaRPr lang="en-US" sz="950" dirty="0"/>
          </a:p>
        </p:txBody>
      </p:sp>
      <p:sp>
        <p:nvSpPr>
          <p:cNvPr id="11" name="Shape 9"/>
          <p:cNvSpPr/>
          <p:nvPr/>
        </p:nvSpPr>
        <p:spPr>
          <a:xfrm>
            <a:off x="402336" y="2002536"/>
            <a:ext cx="118872" cy="118872"/>
          </a:xfrm>
          <a:prstGeom prst="rect">
            <a:avLst/>
          </a:prstGeom>
          <a:solidFill>
            <a:srgbClr val="2E7D32"/>
          </a:solidFill>
          <a:ln w="12700">
            <a:solidFill>
              <a:srgbClr val="2E7D32"/>
            </a:solidFill>
            <a:prstDash val="solid"/>
          </a:ln>
        </p:spPr>
      </p:sp>
      <p:sp>
        <p:nvSpPr>
          <p:cNvPr id="12" name="Text 10"/>
          <p:cNvSpPr/>
          <p:nvPr/>
        </p:nvSpPr>
        <p:spPr>
          <a:xfrm>
            <a:off x="585216" y="193852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ResNet-34 face encoding (128-D vectors)</a:t>
            </a:r>
            <a:endParaRPr lang="en-US" sz="950" dirty="0"/>
          </a:p>
        </p:txBody>
      </p:sp>
      <p:sp>
        <p:nvSpPr>
          <p:cNvPr id="13" name="Shape 11"/>
          <p:cNvSpPr/>
          <p:nvPr/>
        </p:nvSpPr>
        <p:spPr>
          <a:xfrm>
            <a:off x="402336" y="2276856"/>
            <a:ext cx="118872" cy="118872"/>
          </a:xfrm>
          <a:prstGeom prst="rect">
            <a:avLst/>
          </a:prstGeom>
          <a:solidFill>
            <a:srgbClr val="2E7D32"/>
          </a:solidFill>
          <a:ln w="12700">
            <a:solidFill>
              <a:srgbClr val="2E7D32"/>
            </a:solidFill>
            <a:prstDash val="solid"/>
          </a:ln>
        </p:spPr>
      </p:sp>
      <p:sp>
        <p:nvSpPr>
          <p:cNvPr id="14" name="Text 12"/>
          <p:cNvSpPr/>
          <p:nvPr/>
        </p:nvSpPr>
        <p:spPr>
          <a:xfrm>
            <a:off x="585216" y="221284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Euclidean distance matching with 0.50 threshold</a:t>
            </a:r>
            <a:endParaRPr lang="en-US" sz="950" dirty="0"/>
          </a:p>
        </p:txBody>
      </p:sp>
      <p:sp>
        <p:nvSpPr>
          <p:cNvPr id="15" name="Shape 13"/>
          <p:cNvSpPr/>
          <p:nvPr/>
        </p:nvSpPr>
        <p:spPr>
          <a:xfrm>
            <a:off x="402336" y="2551176"/>
            <a:ext cx="118872" cy="118872"/>
          </a:xfrm>
          <a:prstGeom prst="rect">
            <a:avLst/>
          </a:prstGeom>
          <a:solidFill>
            <a:srgbClr val="2E7D32"/>
          </a:solidFill>
          <a:ln w="12700">
            <a:solidFill>
              <a:srgbClr val="2E7D32"/>
            </a:solidFill>
            <a:prstDash val="solid"/>
          </a:ln>
        </p:spPr>
      </p:sp>
      <p:sp>
        <p:nvSpPr>
          <p:cNvPr id="16" name="Text 14"/>
          <p:cNvSpPr/>
          <p:nvPr/>
        </p:nvSpPr>
        <p:spPr>
          <a:xfrm>
            <a:off x="585216" y="248716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Flask web app with full routing and HTML templates</a:t>
            </a:r>
            <a:endParaRPr lang="en-US" sz="950" dirty="0"/>
          </a:p>
        </p:txBody>
      </p:sp>
      <p:sp>
        <p:nvSpPr>
          <p:cNvPr id="17" name="Shape 15"/>
          <p:cNvSpPr/>
          <p:nvPr/>
        </p:nvSpPr>
        <p:spPr>
          <a:xfrm>
            <a:off x="402336" y="2825496"/>
            <a:ext cx="118872" cy="118872"/>
          </a:xfrm>
          <a:prstGeom prst="rect">
            <a:avLst/>
          </a:prstGeom>
          <a:solidFill>
            <a:srgbClr val="2E7D32"/>
          </a:solidFill>
          <a:ln w="12700">
            <a:solidFill>
              <a:srgbClr val="2E7D32"/>
            </a:solidFill>
            <a:prstDash val="solid"/>
          </a:ln>
        </p:spPr>
      </p:sp>
      <p:sp>
        <p:nvSpPr>
          <p:cNvPr id="18" name="Text 16"/>
          <p:cNvSpPr/>
          <p:nvPr/>
        </p:nvSpPr>
        <p:spPr>
          <a:xfrm>
            <a:off x="585216" y="276148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Student registration module (admin login + capture)</a:t>
            </a:r>
            <a:endParaRPr lang="en-US" sz="950" dirty="0"/>
          </a:p>
        </p:txBody>
      </p:sp>
      <p:sp>
        <p:nvSpPr>
          <p:cNvPr id="19" name="Shape 17"/>
          <p:cNvSpPr/>
          <p:nvPr/>
        </p:nvSpPr>
        <p:spPr>
          <a:xfrm>
            <a:off x="402336" y="3099816"/>
            <a:ext cx="118872" cy="118872"/>
          </a:xfrm>
          <a:prstGeom prst="rect">
            <a:avLst/>
          </a:prstGeom>
          <a:solidFill>
            <a:srgbClr val="2E7D32"/>
          </a:solidFill>
          <a:ln w="12700">
            <a:solidFill>
              <a:srgbClr val="2E7D32"/>
            </a:solidFill>
            <a:prstDash val="solid"/>
          </a:ln>
        </p:spPr>
      </p:sp>
      <p:sp>
        <p:nvSpPr>
          <p:cNvPr id="20" name="Text 18"/>
          <p:cNvSpPr/>
          <p:nvPr/>
        </p:nvSpPr>
        <p:spPr>
          <a:xfrm>
            <a:off x="585216" y="303580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Live face verification with green bounding boxes</a:t>
            </a:r>
            <a:endParaRPr lang="en-US" sz="950" dirty="0"/>
          </a:p>
        </p:txBody>
      </p:sp>
      <p:sp>
        <p:nvSpPr>
          <p:cNvPr id="21" name="Shape 19"/>
          <p:cNvSpPr/>
          <p:nvPr/>
        </p:nvSpPr>
        <p:spPr>
          <a:xfrm>
            <a:off x="402336" y="3374136"/>
            <a:ext cx="118872" cy="118872"/>
          </a:xfrm>
          <a:prstGeom prst="rect">
            <a:avLst/>
          </a:prstGeom>
          <a:solidFill>
            <a:srgbClr val="2E7D32"/>
          </a:solidFill>
          <a:ln w="12700">
            <a:solidFill>
              <a:srgbClr val="2E7D32"/>
            </a:solidFill>
            <a:prstDash val="solid"/>
          </a:ln>
        </p:spPr>
      </p:sp>
      <p:sp>
        <p:nvSpPr>
          <p:cNvPr id="22" name="Text 20"/>
          <p:cNvSpPr/>
          <p:nvPr/>
        </p:nvSpPr>
        <p:spPr>
          <a:xfrm>
            <a:off x="585216" y="331012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MongoDB attendance logging with timestamps</a:t>
            </a:r>
            <a:endParaRPr lang="en-US" sz="950" dirty="0"/>
          </a:p>
        </p:txBody>
      </p:sp>
      <p:sp>
        <p:nvSpPr>
          <p:cNvPr id="23" name="Shape 21"/>
          <p:cNvSpPr/>
          <p:nvPr/>
        </p:nvSpPr>
        <p:spPr>
          <a:xfrm>
            <a:off x="402336" y="3648456"/>
            <a:ext cx="118872" cy="118872"/>
          </a:xfrm>
          <a:prstGeom prst="rect">
            <a:avLst/>
          </a:prstGeom>
          <a:solidFill>
            <a:srgbClr val="2E7D32"/>
          </a:solidFill>
          <a:ln w="12700">
            <a:solidFill>
              <a:srgbClr val="2E7D32"/>
            </a:solidFill>
            <a:prstDash val="solid"/>
          </a:ln>
        </p:spPr>
      </p:sp>
      <p:sp>
        <p:nvSpPr>
          <p:cNvPr id="24" name="Text 22"/>
          <p:cNvSpPr/>
          <p:nvPr/>
        </p:nvSpPr>
        <p:spPr>
          <a:xfrm>
            <a:off x="585216" y="358444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60-second duplicate prevention logic</a:t>
            </a:r>
            <a:endParaRPr lang="en-US" sz="950" dirty="0"/>
          </a:p>
        </p:txBody>
      </p:sp>
      <p:sp>
        <p:nvSpPr>
          <p:cNvPr id="25" name="Shape 23"/>
          <p:cNvSpPr/>
          <p:nvPr/>
        </p:nvSpPr>
        <p:spPr>
          <a:xfrm>
            <a:off x="402336" y="3922776"/>
            <a:ext cx="118872" cy="118872"/>
          </a:xfrm>
          <a:prstGeom prst="rect">
            <a:avLst/>
          </a:prstGeom>
          <a:solidFill>
            <a:srgbClr val="2E7D32"/>
          </a:solidFill>
          <a:ln w="12700">
            <a:solidFill>
              <a:srgbClr val="2E7D32"/>
            </a:solidFill>
            <a:prstDash val="solid"/>
          </a:ln>
        </p:spPr>
      </p:sp>
      <p:sp>
        <p:nvSpPr>
          <p:cNvPr id="26" name="Text 24"/>
          <p:cNvSpPr/>
          <p:nvPr/>
        </p:nvSpPr>
        <p:spPr>
          <a:xfrm>
            <a:off x="585216" y="385876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Dashboard with subject-based filtering</a:t>
            </a:r>
            <a:endParaRPr lang="en-US" sz="950" dirty="0"/>
          </a:p>
        </p:txBody>
      </p:sp>
      <p:sp>
        <p:nvSpPr>
          <p:cNvPr id="27" name="Shape 25"/>
          <p:cNvSpPr/>
          <p:nvPr/>
        </p:nvSpPr>
        <p:spPr>
          <a:xfrm>
            <a:off x="402336" y="4197096"/>
            <a:ext cx="118872" cy="118872"/>
          </a:xfrm>
          <a:prstGeom prst="rect">
            <a:avLst/>
          </a:prstGeom>
          <a:solidFill>
            <a:srgbClr val="2E7D32"/>
          </a:solidFill>
          <a:ln w="12700">
            <a:solidFill>
              <a:srgbClr val="2E7D32"/>
            </a:solidFill>
            <a:prstDash val="solid"/>
          </a:ln>
        </p:spPr>
      </p:sp>
      <p:sp>
        <p:nvSpPr>
          <p:cNvPr id="28" name="Text 26"/>
          <p:cNvSpPr/>
          <p:nvPr/>
        </p:nvSpPr>
        <p:spPr>
          <a:xfrm>
            <a:off x="585216" y="413308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Visual preprocessing demo page (/preprocessing)</a:t>
            </a:r>
            <a:endParaRPr lang="en-US" sz="950" dirty="0"/>
          </a:p>
        </p:txBody>
      </p:sp>
      <p:sp>
        <p:nvSpPr>
          <p:cNvPr id="29" name="Shape 27"/>
          <p:cNvSpPr/>
          <p:nvPr/>
        </p:nvSpPr>
        <p:spPr>
          <a:xfrm>
            <a:off x="402336" y="4471416"/>
            <a:ext cx="118872" cy="118872"/>
          </a:xfrm>
          <a:prstGeom prst="rect">
            <a:avLst/>
          </a:prstGeom>
          <a:solidFill>
            <a:srgbClr val="2E7D32"/>
          </a:solidFill>
          <a:ln w="12700">
            <a:solidFill>
              <a:srgbClr val="2E7D32"/>
            </a:solidFill>
            <a:prstDash val="solid"/>
          </a:ln>
        </p:spPr>
      </p:sp>
      <p:sp>
        <p:nvSpPr>
          <p:cNvPr id="30" name="Text 28"/>
          <p:cNvSpPr/>
          <p:nvPr/>
        </p:nvSpPr>
        <p:spPr>
          <a:xfrm>
            <a:off x="585216" y="440740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Windows compatibility fixes (DirectShow + reloader)</a:t>
            </a:r>
            <a:endParaRPr lang="en-US" sz="950" dirty="0"/>
          </a:p>
        </p:txBody>
      </p:sp>
      <p:sp>
        <p:nvSpPr>
          <p:cNvPr id="31" name="Shape 29"/>
          <p:cNvSpPr/>
          <p:nvPr/>
        </p:nvSpPr>
        <p:spPr>
          <a:xfrm>
            <a:off x="4681728" y="960120"/>
            <a:ext cx="4206240" cy="4041648"/>
          </a:xfrm>
          <a:prstGeom prst="rect">
            <a:avLst/>
          </a:prstGeom>
          <a:solidFill>
            <a:srgbClr val="FFF3E0"/>
          </a:solidFill>
          <a:ln w="15240">
            <a:solidFill>
              <a:srgbClr val="FFCC80"/>
            </a:solidFill>
            <a:prstDash val="solid"/>
          </a:ln>
        </p:spPr>
      </p:sp>
      <p:sp>
        <p:nvSpPr>
          <p:cNvPr id="32" name="Shape 30"/>
          <p:cNvSpPr/>
          <p:nvPr/>
        </p:nvSpPr>
        <p:spPr>
          <a:xfrm>
            <a:off x="4681728" y="960120"/>
            <a:ext cx="4206240" cy="347472"/>
          </a:xfrm>
          <a:prstGeom prst="rect">
            <a:avLst/>
          </a:prstGeom>
          <a:solidFill>
            <a:srgbClr val="E65100"/>
          </a:solidFill>
          <a:ln w="12700">
            <a:solidFill>
              <a:srgbClr val="E65100"/>
            </a:solidFill>
            <a:prstDash val="solid"/>
          </a:ln>
        </p:spPr>
      </p:sp>
      <p:sp>
        <p:nvSpPr>
          <p:cNvPr id="33" name="Text 31"/>
          <p:cNvSpPr/>
          <p:nvPr/>
        </p:nvSpPr>
        <p:spPr>
          <a:xfrm>
            <a:off x="4754880" y="978408"/>
            <a:ext cx="4069080" cy="31089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PLANNED / FUTURE WORK</a:t>
            </a:r>
            <a:endParaRPr lang="en-US" sz="1300" dirty="0"/>
          </a:p>
        </p:txBody>
      </p:sp>
      <p:sp>
        <p:nvSpPr>
          <p:cNvPr id="34" name="Shape 32"/>
          <p:cNvSpPr/>
          <p:nvPr/>
        </p:nvSpPr>
        <p:spPr>
          <a:xfrm>
            <a:off x="4828032" y="1453896"/>
            <a:ext cx="118872" cy="118872"/>
          </a:xfrm>
          <a:prstGeom prst="rect">
            <a:avLst/>
          </a:prstGeom>
          <a:solidFill>
            <a:srgbClr val="E65100"/>
          </a:solidFill>
          <a:ln w="12700">
            <a:solidFill>
              <a:srgbClr val="E65100"/>
            </a:solidFill>
            <a:prstDash val="solid"/>
          </a:ln>
        </p:spPr>
      </p:sp>
      <p:sp>
        <p:nvSpPr>
          <p:cNvPr id="35" name="Text 33"/>
          <p:cNvSpPr/>
          <p:nvPr/>
        </p:nvSpPr>
        <p:spPr>
          <a:xfrm>
            <a:off x="5010912" y="138988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Multi-frame confirmation (3 frames before logging)</a:t>
            </a:r>
            <a:endParaRPr lang="en-US" sz="950" dirty="0"/>
          </a:p>
        </p:txBody>
      </p:sp>
      <p:sp>
        <p:nvSpPr>
          <p:cNvPr id="36" name="Shape 34"/>
          <p:cNvSpPr/>
          <p:nvPr/>
        </p:nvSpPr>
        <p:spPr>
          <a:xfrm>
            <a:off x="4828032" y="1856232"/>
            <a:ext cx="118872" cy="118872"/>
          </a:xfrm>
          <a:prstGeom prst="rect">
            <a:avLst/>
          </a:prstGeom>
          <a:solidFill>
            <a:srgbClr val="E65100"/>
          </a:solidFill>
          <a:ln w="12700">
            <a:solidFill>
              <a:srgbClr val="E65100"/>
            </a:solidFill>
            <a:prstDash val="solid"/>
          </a:ln>
        </p:spPr>
      </p:sp>
      <p:sp>
        <p:nvSpPr>
          <p:cNvPr id="37" name="Text 35"/>
          <p:cNvSpPr/>
          <p:nvPr/>
        </p:nvSpPr>
        <p:spPr>
          <a:xfrm>
            <a:off x="5010912" y="1792224"/>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CNN-based detection for better accuracy at angles</a:t>
            </a:r>
            <a:endParaRPr lang="en-US" sz="950" dirty="0"/>
          </a:p>
        </p:txBody>
      </p:sp>
      <p:sp>
        <p:nvSpPr>
          <p:cNvPr id="38" name="Shape 36"/>
          <p:cNvSpPr/>
          <p:nvPr/>
        </p:nvSpPr>
        <p:spPr>
          <a:xfrm>
            <a:off x="4828032" y="2258568"/>
            <a:ext cx="118872" cy="118872"/>
          </a:xfrm>
          <a:prstGeom prst="rect">
            <a:avLst/>
          </a:prstGeom>
          <a:solidFill>
            <a:srgbClr val="E65100"/>
          </a:solidFill>
          <a:ln w="12700">
            <a:solidFill>
              <a:srgbClr val="E65100"/>
            </a:solidFill>
            <a:prstDash val="solid"/>
          </a:ln>
        </p:spPr>
      </p:sp>
      <p:sp>
        <p:nvSpPr>
          <p:cNvPr id="39" name="Text 37"/>
          <p:cNvSpPr/>
          <p:nvPr/>
        </p:nvSpPr>
        <p:spPr>
          <a:xfrm>
            <a:off x="5010912" y="2194560"/>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Face alignment as a full preprocessing step</a:t>
            </a:r>
            <a:endParaRPr lang="en-US" sz="950" dirty="0"/>
          </a:p>
        </p:txBody>
      </p:sp>
      <p:sp>
        <p:nvSpPr>
          <p:cNvPr id="40" name="Shape 38"/>
          <p:cNvSpPr/>
          <p:nvPr/>
        </p:nvSpPr>
        <p:spPr>
          <a:xfrm>
            <a:off x="4828032" y="2660904"/>
            <a:ext cx="118872" cy="118872"/>
          </a:xfrm>
          <a:prstGeom prst="rect">
            <a:avLst/>
          </a:prstGeom>
          <a:solidFill>
            <a:srgbClr val="E65100"/>
          </a:solidFill>
          <a:ln w="12700">
            <a:solidFill>
              <a:srgbClr val="E65100"/>
            </a:solidFill>
            <a:prstDash val="solid"/>
          </a:ln>
        </p:spPr>
      </p:sp>
      <p:sp>
        <p:nvSpPr>
          <p:cNvPr id="41" name="Text 39"/>
          <p:cNvSpPr/>
          <p:nvPr/>
        </p:nvSpPr>
        <p:spPr>
          <a:xfrm>
            <a:off x="5010912" y="2596896"/>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Export attendance to Excel / CSV from dashboard</a:t>
            </a:r>
            <a:endParaRPr lang="en-US" sz="950" dirty="0"/>
          </a:p>
        </p:txBody>
      </p:sp>
      <p:sp>
        <p:nvSpPr>
          <p:cNvPr id="42" name="Shape 40"/>
          <p:cNvSpPr/>
          <p:nvPr/>
        </p:nvSpPr>
        <p:spPr>
          <a:xfrm>
            <a:off x="4828032" y="3063240"/>
            <a:ext cx="118872" cy="118872"/>
          </a:xfrm>
          <a:prstGeom prst="rect">
            <a:avLst/>
          </a:prstGeom>
          <a:solidFill>
            <a:srgbClr val="E65100"/>
          </a:solidFill>
          <a:ln w="12700">
            <a:solidFill>
              <a:srgbClr val="E65100"/>
            </a:solidFill>
            <a:prstDash val="solid"/>
          </a:ln>
        </p:spPr>
      </p:sp>
      <p:sp>
        <p:nvSpPr>
          <p:cNvPr id="43" name="Text 41"/>
          <p:cNvSpPr/>
          <p:nvPr/>
        </p:nvSpPr>
        <p:spPr>
          <a:xfrm>
            <a:off x="5010912" y="2999232"/>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Email notification when attendance is marked</a:t>
            </a:r>
            <a:endParaRPr lang="en-US" sz="950" dirty="0"/>
          </a:p>
        </p:txBody>
      </p:sp>
      <p:sp>
        <p:nvSpPr>
          <p:cNvPr id="44" name="Shape 42"/>
          <p:cNvSpPr/>
          <p:nvPr/>
        </p:nvSpPr>
        <p:spPr>
          <a:xfrm>
            <a:off x="4828032" y="3465576"/>
            <a:ext cx="118872" cy="118872"/>
          </a:xfrm>
          <a:prstGeom prst="rect">
            <a:avLst/>
          </a:prstGeom>
          <a:solidFill>
            <a:srgbClr val="E65100"/>
          </a:solidFill>
          <a:ln w="12700">
            <a:solidFill>
              <a:srgbClr val="E65100"/>
            </a:solidFill>
            <a:prstDash val="solid"/>
          </a:ln>
        </p:spPr>
      </p:sp>
      <p:sp>
        <p:nvSpPr>
          <p:cNvPr id="45" name="Text 43"/>
          <p:cNvSpPr/>
          <p:nvPr/>
        </p:nvSpPr>
        <p:spPr>
          <a:xfrm>
            <a:off x="5010912" y="3401568"/>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Anti-spoofing — prevent photo attacks</a:t>
            </a:r>
            <a:endParaRPr lang="en-US" sz="950" dirty="0"/>
          </a:p>
        </p:txBody>
      </p:sp>
      <p:sp>
        <p:nvSpPr>
          <p:cNvPr id="46" name="Shape 44"/>
          <p:cNvSpPr/>
          <p:nvPr/>
        </p:nvSpPr>
        <p:spPr>
          <a:xfrm>
            <a:off x="4828032" y="3867912"/>
            <a:ext cx="118872" cy="118872"/>
          </a:xfrm>
          <a:prstGeom prst="rect">
            <a:avLst/>
          </a:prstGeom>
          <a:solidFill>
            <a:srgbClr val="E65100"/>
          </a:solidFill>
          <a:ln w="12700">
            <a:solidFill>
              <a:srgbClr val="E65100"/>
            </a:solidFill>
            <a:prstDash val="solid"/>
          </a:ln>
        </p:spPr>
      </p:sp>
      <p:sp>
        <p:nvSpPr>
          <p:cNvPr id="47" name="Text 45"/>
          <p:cNvSpPr/>
          <p:nvPr/>
        </p:nvSpPr>
        <p:spPr>
          <a:xfrm>
            <a:off x="5010912" y="3803904"/>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Multi-camera support for large lecture halls</a:t>
            </a:r>
            <a:endParaRPr lang="en-US" sz="950" dirty="0"/>
          </a:p>
        </p:txBody>
      </p:sp>
      <p:sp>
        <p:nvSpPr>
          <p:cNvPr id="48" name="Shape 46"/>
          <p:cNvSpPr/>
          <p:nvPr/>
        </p:nvSpPr>
        <p:spPr>
          <a:xfrm>
            <a:off x="4828032" y="4270248"/>
            <a:ext cx="118872" cy="118872"/>
          </a:xfrm>
          <a:prstGeom prst="rect">
            <a:avLst/>
          </a:prstGeom>
          <a:solidFill>
            <a:srgbClr val="E65100"/>
          </a:solidFill>
          <a:ln w="12700">
            <a:solidFill>
              <a:srgbClr val="E65100"/>
            </a:solidFill>
            <a:prstDash val="solid"/>
          </a:ln>
        </p:spPr>
      </p:sp>
      <p:sp>
        <p:nvSpPr>
          <p:cNvPr id="49" name="Text 47"/>
          <p:cNvSpPr/>
          <p:nvPr/>
        </p:nvSpPr>
        <p:spPr>
          <a:xfrm>
            <a:off x="5010912" y="4206240"/>
            <a:ext cx="3749040" cy="256032"/>
          </a:xfrm>
          <a:prstGeom prst="rect">
            <a:avLst/>
          </a:prstGeom>
          <a:noFill/>
          <a:ln/>
        </p:spPr>
        <p:txBody>
          <a:bodyPr wrap="square" rtlCol="0" anchor="ctr"/>
          <a:lstStyle/>
          <a:p>
            <a:pPr indent="0" marL="0">
              <a:buNone/>
            </a:pPr>
            <a:r>
              <a:rPr lang="en-US" sz="950" dirty="0">
                <a:solidFill>
                  <a:srgbClr val="263238"/>
                </a:solidFill>
                <a:latin typeface="Calibri" pitchFamily="34" charset="0"/>
                <a:ea typeface="Calibri" pitchFamily="34" charset="-122"/>
                <a:cs typeface="Calibri" pitchFamily="34" charset="-120"/>
              </a:rPr>
              <a:t>Formal accuracy evaluation on a test dataset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45"/>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CD4"/>
          </a:solidFill>
          <a:ln w="12700">
            <a:solidFill>
              <a:srgbClr val="00BCD4"/>
            </a:solidFill>
            <a:prstDash val="solid"/>
          </a:ln>
        </p:spPr>
      </p:sp>
      <p:sp>
        <p:nvSpPr>
          <p:cNvPr id="3" name="Shape 1"/>
          <p:cNvSpPr/>
          <p:nvPr/>
        </p:nvSpPr>
        <p:spPr>
          <a:xfrm>
            <a:off x="0" y="5088636"/>
            <a:ext cx="9144000" cy="54864"/>
          </a:xfrm>
          <a:prstGeom prst="rect">
            <a:avLst/>
          </a:prstGeom>
          <a:solidFill>
            <a:srgbClr val="00BCD4"/>
          </a:solidFill>
          <a:ln w="12700">
            <a:solidFill>
              <a:srgbClr val="00BCD4"/>
            </a:solidFill>
            <a:prstDash val="solid"/>
          </a:ln>
        </p:spPr>
      </p:sp>
      <p:sp>
        <p:nvSpPr>
          <p:cNvPr id="4" name="Text 2"/>
          <p:cNvSpPr/>
          <p:nvPr/>
        </p:nvSpPr>
        <p:spPr>
          <a:xfrm>
            <a:off x="457200" y="640080"/>
            <a:ext cx="8229600" cy="1051560"/>
          </a:xfrm>
          <a:prstGeom prst="rect">
            <a:avLst/>
          </a:prstGeom>
          <a:noFill/>
          <a:ln/>
        </p:spPr>
        <p:txBody>
          <a:bodyPr wrap="square" rtlCol="0" anchor="ctr"/>
          <a:lstStyle/>
          <a:p>
            <a:pPr algn="ct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Text 3"/>
          <p:cNvSpPr/>
          <p:nvPr/>
        </p:nvSpPr>
        <p:spPr>
          <a:xfrm>
            <a:off x="457200" y="1627632"/>
            <a:ext cx="8229600" cy="384048"/>
          </a:xfrm>
          <a:prstGeom prst="rect">
            <a:avLst/>
          </a:prstGeom>
          <a:noFill/>
          <a:ln/>
        </p:spPr>
        <p:txBody>
          <a:bodyPr wrap="square" rtlCol="0" anchor="ctr"/>
          <a:lstStyle/>
          <a:p>
            <a:pPr algn="ctr" indent="0" marL="0">
              <a:buNone/>
            </a:pPr>
            <a:r>
              <a:rPr lang="en-US" sz="2000" i="1" dirty="0">
                <a:solidFill>
                  <a:srgbClr val="00BCD4"/>
                </a:solidFill>
                <a:latin typeface="Calibri" pitchFamily="34" charset="0"/>
                <a:ea typeface="Calibri" pitchFamily="34" charset="-122"/>
                <a:cs typeface="Calibri" pitchFamily="34" charset="-120"/>
              </a:rPr>
              <a:t>Questions &amp; Discussion</a:t>
            </a:r>
            <a:endParaRPr lang="en-US" sz="2000" dirty="0"/>
          </a:p>
        </p:txBody>
      </p:sp>
      <p:sp>
        <p:nvSpPr>
          <p:cNvPr id="6" name="Shape 4"/>
          <p:cNvSpPr/>
          <p:nvPr/>
        </p:nvSpPr>
        <p:spPr>
          <a:xfrm>
            <a:off x="274320" y="2194560"/>
            <a:ext cx="2816352" cy="1874520"/>
          </a:xfrm>
          <a:prstGeom prst="rect">
            <a:avLst/>
          </a:prstGeom>
          <a:solidFill>
            <a:srgbClr val="132C5A"/>
          </a:solidFill>
          <a:ln w="12700">
            <a:solidFill>
              <a:srgbClr val="132C5A"/>
            </a:solidFill>
            <a:prstDash val="solid"/>
          </a:ln>
        </p:spPr>
      </p:sp>
      <p:sp>
        <p:nvSpPr>
          <p:cNvPr id="7" name="Shape 5"/>
          <p:cNvSpPr/>
          <p:nvPr/>
        </p:nvSpPr>
        <p:spPr>
          <a:xfrm>
            <a:off x="274320" y="2194560"/>
            <a:ext cx="2816352" cy="347472"/>
          </a:xfrm>
          <a:prstGeom prst="rect">
            <a:avLst/>
          </a:prstGeom>
          <a:solidFill>
            <a:srgbClr val="1565C0"/>
          </a:solidFill>
          <a:ln w="12700">
            <a:solidFill>
              <a:srgbClr val="1565C0"/>
            </a:solidFill>
            <a:prstDash val="solid"/>
          </a:ln>
        </p:spPr>
      </p:sp>
      <p:sp>
        <p:nvSpPr>
          <p:cNvPr id="8" name="Text 6"/>
          <p:cNvSpPr/>
          <p:nvPr/>
        </p:nvSpPr>
        <p:spPr>
          <a:xfrm>
            <a:off x="365760" y="2212848"/>
            <a:ext cx="2633472"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Preprocessing</a:t>
            </a:r>
            <a:endParaRPr lang="en-US" sz="1400" dirty="0"/>
          </a:p>
        </p:txBody>
      </p:sp>
      <p:sp>
        <p:nvSpPr>
          <p:cNvPr id="9" name="Text 7"/>
          <p:cNvSpPr/>
          <p:nvPr/>
        </p:nvSpPr>
        <p:spPr>
          <a:xfrm>
            <a:off x="365760" y="2596896"/>
            <a:ext cx="2633472" cy="1389888"/>
          </a:xfrm>
          <a:prstGeom prst="rect">
            <a:avLst/>
          </a:prstGeom>
          <a:noFill/>
          <a:ln/>
        </p:spPr>
        <p:txBody>
          <a:bodyPr wrap="square"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11 steps transform raw camera frames into clean AI input — fixing colour order, lighting, noise, and size</a:t>
            </a:r>
            <a:endParaRPr lang="en-US" sz="1050" dirty="0"/>
          </a:p>
        </p:txBody>
      </p:sp>
      <p:sp>
        <p:nvSpPr>
          <p:cNvPr id="10" name="Shape 8"/>
          <p:cNvSpPr/>
          <p:nvPr/>
        </p:nvSpPr>
        <p:spPr>
          <a:xfrm>
            <a:off x="3264408" y="2194560"/>
            <a:ext cx="2816352" cy="1874520"/>
          </a:xfrm>
          <a:prstGeom prst="rect">
            <a:avLst/>
          </a:prstGeom>
          <a:solidFill>
            <a:srgbClr val="132C5A"/>
          </a:solidFill>
          <a:ln w="12700">
            <a:solidFill>
              <a:srgbClr val="132C5A"/>
            </a:solidFill>
            <a:prstDash val="solid"/>
          </a:ln>
        </p:spPr>
      </p:sp>
      <p:sp>
        <p:nvSpPr>
          <p:cNvPr id="11" name="Shape 9"/>
          <p:cNvSpPr/>
          <p:nvPr/>
        </p:nvSpPr>
        <p:spPr>
          <a:xfrm>
            <a:off x="3264408" y="2194560"/>
            <a:ext cx="2816352" cy="347472"/>
          </a:xfrm>
          <a:prstGeom prst="rect">
            <a:avLst/>
          </a:prstGeom>
          <a:solidFill>
            <a:srgbClr val="6A1B9A"/>
          </a:solidFill>
          <a:ln w="12700">
            <a:solidFill>
              <a:srgbClr val="6A1B9A"/>
            </a:solidFill>
            <a:prstDash val="solid"/>
          </a:ln>
        </p:spPr>
      </p:sp>
      <p:sp>
        <p:nvSpPr>
          <p:cNvPr id="12" name="Text 10"/>
          <p:cNvSpPr/>
          <p:nvPr/>
        </p:nvSpPr>
        <p:spPr>
          <a:xfrm>
            <a:off x="3355848" y="2212848"/>
            <a:ext cx="2633472"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Recognition</a:t>
            </a:r>
            <a:endParaRPr lang="en-US" sz="1400" dirty="0"/>
          </a:p>
        </p:txBody>
      </p:sp>
      <p:sp>
        <p:nvSpPr>
          <p:cNvPr id="13" name="Text 11"/>
          <p:cNvSpPr/>
          <p:nvPr/>
        </p:nvSpPr>
        <p:spPr>
          <a:xfrm>
            <a:off x="3355848" y="2596896"/>
            <a:ext cx="2633472" cy="1389888"/>
          </a:xfrm>
          <a:prstGeom prst="rect">
            <a:avLst/>
          </a:prstGeom>
          <a:noFill/>
          <a:ln/>
        </p:spPr>
        <p:txBody>
          <a:bodyPr wrap="square"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ResNet-34 converts each face into 128 unique numbers. Euclidean distance below 0.50 confirms identity</a:t>
            </a:r>
            <a:endParaRPr lang="en-US" sz="1050" dirty="0"/>
          </a:p>
        </p:txBody>
      </p:sp>
      <p:sp>
        <p:nvSpPr>
          <p:cNvPr id="14" name="Shape 12"/>
          <p:cNvSpPr/>
          <p:nvPr/>
        </p:nvSpPr>
        <p:spPr>
          <a:xfrm>
            <a:off x="6254496" y="2194560"/>
            <a:ext cx="2816352" cy="1874520"/>
          </a:xfrm>
          <a:prstGeom prst="rect">
            <a:avLst/>
          </a:prstGeom>
          <a:solidFill>
            <a:srgbClr val="132C5A"/>
          </a:solidFill>
          <a:ln w="12700">
            <a:solidFill>
              <a:srgbClr val="132C5A"/>
            </a:solidFill>
            <a:prstDash val="solid"/>
          </a:ln>
        </p:spPr>
      </p:sp>
      <p:sp>
        <p:nvSpPr>
          <p:cNvPr id="15" name="Shape 13"/>
          <p:cNvSpPr/>
          <p:nvPr/>
        </p:nvSpPr>
        <p:spPr>
          <a:xfrm>
            <a:off x="6254496" y="2194560"/>
            <a:ext cx="2816352" cy="347472"/>
          </a:xfrm>
          <a:prstGeom prst="rect">
            <a:avLst/>
          </a:prstGeom>
          <a:solidFill>
            <a:srgbClr val="2E7D32"/>
          </a:solidFill>
          <a:ln w="12700">
            <a:solidFill>
              <a:srgbClr val="2E7D32"/>
            </a:solidFill>
            <a:prstDash val="solid"/>
          </a:ln>
        </p:spPr>
      </p:sp>
      <p:sp>
        <p:nvSpPr>
          <p:cNvPr id="16" name="Text 14"/>
          <p:cNvSpPr/>
          <p:nvPr/>
        </p:nvSpPr>
        <p:spPr>
          <a:xfrm>
            <a:off x="6345936" y="2212848"/>
            <a:ext cx="2633472" cy="310896"/>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Attendance</a:t>
            </a:r>
            <a:endParaRPr lang="en-US" sz="1400" dirty="0"/>
          </a:p>
        </p:txBody>
      </p:sp>
      <p:sp>
        <p:nvSpPr>
          <p:cNvPr id="17" name="Text 15"/>
          <p:cNvSpPr/>
          <p:nvPr/>
        </p:nvSpPr>
        <p:spPr>
          <a:xfrm>
            <a:off x="6345936" y="2596896"/>
            <a:ext cx="2633472" cy="1389888"/>
          </a:xfrm>
          <a:prstGeom prst="rect">
            <a:avLst/>
          </a:prstGeom>
          <a:noFill/>
          <a:ln/>
        </p:spPr>
        <p:txBody>
          <a:bodyPr wrap="square" rtlCol="0" anchor="ctr"/>
          <a:lstStyle/>
          <a:p>
            <a:pPr algn="ctr" indent="0" marL="0">
              <a:buNone/>
            </a:pPr>
            <a:r>
              <a:rPr lang="en-US" sz="1050" dirty="0">
                <a:solidFill>
                  <a:srgbClr val="CBD5E1"/>
                </a:solidFill>
                <a:latin typeface="Calibri" pitchFamily="34" charset="0"/>
                <a:ea typeface="Calibri" pitchFamily="34" charset="-122"/>
                <a:cs typeface="Calibri" pitchFamily="34" charset="-120"/>
              </a:rPr>
              <a:t>Verified faces are logged instantly to MongoDB with subject and timestamp, viewable on the dashboard</a:t>
            </a:r>
            <a:endParaRPr lang="en-US" sz="1050" dirty="0"/>
          </a:p>
        </p:txBody>
      </p:sp>
      <p:sp>
        <p:nvSpPr>
          <p:cNvPr id="18" name="Shape 16"/>
          <p:cNvSpPr/>
          <p:nvPr/>
        </p:nvSpPr>
        <p:spPr>
          <a:xfrm>
            <a:off x="0" y="4187952"/>
            <a:ext cx="9144000" cy="896112"/>
          </a:xfrm>
          <a:prstGeom prst="rect">
            <a:avLst/>
          </a:prstGeom>
          <a:solidFill>
            <a:srgbClr val="070F24"/>
          </a:solidFill>
          <a:ln w="12700">
            <a:solidFill>
              <a:srgbClr val="070F24"/>
            </a:solidFill>
            <a:prstDash val="solid"/>
          </a:ln>
        </p:spPr>
      </p:sp>
      <p:sp>
        <p:nvSpPr>
          <p:cNvPr id="19" name="Text 17"/>
          <p:cNvSpPr/>
          <p:nvPr/>
        </p:nvSpPr>
        <p:spPr>
          <a:xfrm>
            <a:off x="457200" y="4251960"/>
            <a:ext cx="8229600" cy="256032"/>
          </a:xfrm>
          <a:prstGeom prst="rect">
            <a:avLst/>
          </a:prstGeom>
          <a:noFill/>
          <a:ln/>
        </p:spPr>
        <p:txBody>
          <a:bodyPr wrap="square" rtlCol="0" anchor="ctr"/>
          <a:lstStyle/>
          <a:p>
            <a:pPr algn="ctr" indent="0" marL="0">
              <a:buNone/>
            </a:pPr>
            <a:r>
              <a:rPr lang="en-US" sz="1100" b="1" dirty="0">
                <a:solidFill>
                  <a:srgbClr val="00BCD4"/>
                </a:solidFill>
                <a:latin typeface="Calibri" pitchFamily="34" charset="0"/>
                <a:ea typeface="Calibri" pitchFamily="34" charset="-122"/>
                <a:cs typeface="Calibri" pitchFamily="34" charset="-120"/>
              </a:rPr>
              <a:t>CS31092 — Digital Image Processing  |  Group 04  |  KDU Faculty of Computing</a:t>
            </a:r>
            <a:endParaRPr lang="en-US" sz="1100" dirty="0"/>
          </a:p>
        </p:txBody>
      </p:sp>
      <p:sp>
        <p:nvSpPr>
          <p:cNvPr id="20" name="Text 18"/>
          <p:cNvSpPr/>
          <p:nvPr/>
        </p:nvSpPr>
        <p:spPr>
          <a:xfrm>
            <a:off x="457200" y="4535424"/>
            <a:ext cx="8229600" cy="237744"/>
          </a:xfrm>
          <a:prstGeom prst="rect">
            <a:avLst/>
          </a:prstGeom>
          <a:noFill/>
          <a:ln/>
        </p:spPr>
        <p:txBody>
          <a:bodyPr wrap="square" rtlCol="0" anchor="ctr"/>
          <a:lstStyle/>
          <a:p>
            <a:pPr algn="ctr" indent="0" marL="0">
              <a:buNone/>
            </a:pPr>
            <a:r>
              <a:rPr lang="en-US" sz="1050" dirty="0">
                <a:solidFill>
                  <a:srgbClr val="90A4AE"/>
                </a:solidFill>
                <a:latin typeface="Calibri" pitchFamily="34" charset="0"/>
                <a:ea typeface="Calibri" pitchFamily="34" charset="-122"/>
                <a:cs typeface="Calibri" pitchFamily="34" charset="-120"/>
              </a:rPr>
              <a:t>D/BCE/24/0007  DMMH Dissanayake     |     D/BCS/24/0010  HDT Gajanayaka     |     D/DBA/23/0012  OM Kavishan</a:t>
            </a:r>
            <a:endParaRPr lang="en-US" sz="1050" dirty="0"/>
          </a:p>
        </p:txBody>
      </p:sp>
      <p:sp>
        <p:nvSpPr>
          <p:cNvPr id="21" name="Text 19"/>
          <p:cNvSpPr/>
          <p:nvPr/>
        </p:nvSpPr>
        <p:spPr>
          <a:xfrm>
            <a:off x="457200" y="4791456"/>
            <a:ext cx="8229600" cy="201168"/>
          </a:xfrm>
          <a:prstGeom prst="rect">
            <a:avLst/>
          </a:prstGeom>
          <a:noFill/>
          <a:ln/>
        </p:spPr>
        <p:txBody>
          <a:bodyPr wrap="square" rtlCol="0" anchor="ctr"/>
          <a:lstStyle/>
          <a:p>
            <a:pPr algn="ctr" indent="0" marL="0">
              <a:buNone/>
            </a:pPr>
            <a:r>
              <a:rPr lang="en-US" sz="1000" i="1" dirty="0">
                <a:solidFill>
                  <a:srgbClr val="3D70A0"/>
                </a:solidFill>
                <a:latin typeface="Calibri" pitchFamily="34" charset="0"/>
                <a:ea typeface="Calibri" pitchFamily="34" charset="-122"/>
                <a:cs typeface="Calibri" pitchFamily="34" charset="-120"/>
              </a:rPr>
              <a:t>github.com/Malindu7/Attendance_System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Verification Attendance System</dc:title>
  <dc:subject>PptxGenJS Presentation</dc:subject>
  <dc:creator>PptxGenJS</dc:creator>
  <cp:lastModifiedBy>PptxGenJS</cp:lastModifiedBy>
  <cp:revision>1</cp:revision>
  <dcterms:created xsi:type="dcterms:W3CDTF">2026-03-22T17:34:35Z</dcterms:created>
  <dcterms:modified xsi:type="dcterms:W3CDTF">2026-03-22T17:34:35Z</dcterms:modified>
</cp:coreProperties>
</file>